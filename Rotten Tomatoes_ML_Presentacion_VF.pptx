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embeddedFontLst>
    <p:embeddedFont>
      <p:font typeface="Bebas Neue"/>
      <p:regular r:id="rId16"/>
    </p:embeddedFont>
    <p:embeddedFont>
      <p:font typeface="Work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Tpm0l0XdAp/NRBgtLPqk+EB6j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WorkSans-regular.fntdata"/><Relationship Id="rId16" Type="http://schemas.openxmlformats.org/officeDocument/2006/relationships/font" Target="fonts/BebasNeue-regular.fntdata"/><Relationship Id="rId5" Type="http://schemas.openxmlformats.org/officeDocument/2006/relationships/slide" Target="slides/slide1.xml"/><Relationship Id="rId19" Type="http://schemas.openxmlformats.org/officeDocument/2006/relationships/font" Target="fonts/WorkSans-italic.fntdata"/><Relationship Id="rId6" Type="http://schemas.openxmlformats.org/officeDocument/2006/relationships/slide" Target="slides/slide2.xml"/><Relationship Id="rId18" Type="http://schemas.openxmlformats.org/officeDocument/2006/relationships/font" Target="fonts/WorkSans-bold.fntdata"/><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Work Sans"/>
              </a:defRPr>
            </a:pPr>
            <a:r>
              <a:rPr sz="1100" b="0" i="0" u="none" strike="noStrike">
                <a:solidFill>
                  <a:srgbClr val="FFFFFF"/>
                </a:solidFill>
                <a:latin typeface="Work Sans"/>
              </a:rPr>
              <a:t>Test Accuracy by Model (%)</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B7B7B7"/>
            </a:solidFill>
            <a:effectLst/>
          </c:spPr>
          <c:invertIfNegative val="0"/>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B7B7B7"/>
              </a:solidFill>
              <a:effectLst/>
            </c:spPr>
          </c:dPt>
          <c:dPt>
            <c:idx val="1"/>
            <c:invertIfNegative val="0"/>
            <c:bubble3D val="0"/>
            <c:spPr>
              <a:solidFill>
                <a:srgbClr val="B7B7B7"/>
              </a:solidFill>
              <a:effectLst/>
            </c:spPr>
          </c:dPt>
          <c:dPt>
            <c:idx val="2"/>
            <c:invertIfNegative val="0"/>
            <c:bubble3D val="0"/>
            <c:spPr>
              <a:solidFill>
                <a:srgbClr val="3FAC4F"/>
              </a:solidFill>
              <a:effectLst/>
            </c:spPr>
          </c:dPt>
          <c:cat>
            <c:multiLvlStrRef>
              <c:f>Sheet1!$A$2:$A$4</c:f>
              <c:multiLvlStrCache>
                <c:ptCount val="3"/>
                <c:lvl>
                  <c:pt idx="0">
                    <c:v>Random Forest</c:v>
                  </c:pt>
                  <c:pt idx="1">
                    <c:v>XGBoost
(Original)</c:v>
                  </c:pt>
                  <c:pt idx="2">
                    <c:v>XGBoost
(Tuned)</c:v>
                  </c:pt>
                </c:lvl>
              </c:multiLvlStrCache>
            </c:multiLvlStrRef>
          </c:cat>
          <c:val>
            <c:numRef>
              <c:f>Sheet1!$B$2:$B$4</c:f>
              <c:numCache>
                <c:formatCode>General</c:formatCode>
                <c:ptCount val="3"/>
                <c:pt idx="0">
                  <c:v>73.65</c:v>
                </c:pt>
                <c:pt idx="1">
                  <c:v>72.5</c:v>
                </c:pt>
                <c:pt idx="2">
                  <c:v>74.37</c:v>
                </c:pt>
              </c:numCache>
            </c:numRef>
          </c:val>
        </c:ser>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B7B7B7"/>
                </a:solidFill>
                <a:latin typeface="Work Sans"/>
              </a:defRPr>
            </a:pPr>
            <a:endParaRPr lang="en-US"/>
          </a:p>
        </c:txPr>
        <c:crossAx val="2094734552"/>
        <c:crosses val="autoZero"/>
        <c:auto val="1"/>
        <c:lblAlgn val="ctr"/>
        <c:noMultiLvlLbl val="1"/>
      </c:catAx>
      <c:valAx>
        <c:axId val="2094734552"/>
        <c:scaling>
          <c:orientation val="minMax"/>
          <c:max val="85"/>
          <c:min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Good morning, everyone. Jeronimo and I are ready to introduce our project, Predicting the Tomatometer, based on the Rotten Tomatoes dataset.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Rotten Tomatoes is a popular website that collects movie ratings from both critics and audiences. For this project, we use the rotten_tomatoes_movies dataset, that is the most complete file available;</a:t>
            </a:r>
            <a:endParaRPr/>
          </a:p>
          <a:p>
            <a:pPr indent="-317500" lvl="0" marL="457200" rtl="0" algn="l">
              <a:spcBef>
                <a:spcPts val="0"/>
              </a:spcBef>
              <a:spcAft>
                <a:spcPts val="0"/>
              </a:spcAft>
              <a:buSzPts val="1400"/>
              <a:buChar char="●"/>
            </a:pPr>
            <a:r>
              <a:rPr lang="en-US"/>
              <a:t>Although scraped in October 2020, it still provides strong information for building Machine Learning  models. </a:t>
            </a:r>
            <a:endParaRPr/>
          </a:p>
          <a:p>
            <a:pPr indent="-317500" lvl="0" marL="457200" rtl="0" algn="l">
              <a:lnSpc>
                <a:spcPct val="115000"/>
              </a:lnSpc>
              <a:spcBef>
                <a:spcPts val="0"/>
              </a:spcBef>
              <a:spcAft>
                <a:spcPts val="0"/>
              </a:spcAft>
              <a:buClr>
                <a:schemeClr val="dk1"/>
              </a:buClr>
              <a:buSzPts val="1400"/>
              <a:buChar char="●"/>
            </a:pPr>
            <a:r>
              <a:rPr lang="en-US"/>
              <a:t>Our project asks a simple question: can we predict whether a movie will be Fresh or Rotten? To answer that, we treat this as a binary classification task — the model learns from historical rating patterns to predict one of two outcomes.</a:t>
            </a:r>
            <a:endParaRPr/>
          </a:p>
          <a:p>
            <a:pPr indent="-317500" lvl="0" marL="457200" rtl="0" algn="l">
              <a:lnSpc>
                <a:spcPct val="115000"/>
              </a:lnSpc>
              <a:spcBef>
                <a:spcPts val="0"/>
              </a:spcBef>
              <a:spcAft>
                <a:spcPts val="0"/>
              </a:spcAft>
              <a:buSzPts val="1400"/>
              <a:buChar char="●"/>
            </a:pPr>
            <a:r>
              <a:rPr lang="en-US"/>
              <a:t>This matters because understanding which factors drive critical reception is valuable for studios and streaming platforms, helping them make smarter marketing and content decisions.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We started with a raw dataset of 17,712 movies and 22 columns. To keep only meaningful titles, we filtered for movies with more than 3,500 audience reviews.</a:t>
            </a:r>
            <a:endParaRPr/>
          </a:p>
          <a:p>
            <a:pPr indent="-317500" lvl="0" marL="457200" rtl="0" algn="l">
              <a:lnSpc>
                <a:spcPct val="115000"/>
              </a:lnSpc>
              <a:spcBef>
                <a:spcPts val="0"/>
              </a:spcBef>
              <a:spcAft>
                <a:spcPts val="0"/>
              </a:spcAft>
              <a:buSzPts val="1400"/>
              <a:buChar char="●"/>
            </a:pPr>
            <a:r>
              <a:rPr lang="en-US"/>
              <a:t>Next, we simplified genre and content rating columns into a small number of clear categories, using AI-assisted grouping.</a:t>
            </a:r>
            <a:endParaRPr/>
          </a:p>
          <a:p>
            <a:pPr indent="-317500" lvl="0" marL="457200" rtl="0" algn="l">
              <a:lnSpc>
                <a:spcPct val="115000"/>
              </a:lnSpc>
              <a:spcBef>
                <a:spcPts val="0"/>
              </a:spcBef>
              <a:spcAft>
                <a:spcPts val="0"/>
              </a:spcAft>
              <a:buSzPts val="1400"/>
              <a:buChar char="●"/>
            </a:pPr>
            <a:r>
              <a:rPr lang="en-US"/>
              <a:t>For directors, authors, actors, and production companies columns — which had too many unique values to use directly — we applied K-Means clustering, grouping them by average rating, review count, and number of movies.</a:t>
            </a:r>
            <a:endParaRPr/>
          </a:p>
          <a:p>
            <a:pPr indent="-317500" lvl="0" marL="457200" rtl="0" algn="l">
              <a:lnSpc>
                <a:spcPct val="115000"/>
              </a:lnSpc>
              <a:spcBef>
                <a:spcPts val="0"/>
              </a:spcBef>
              <a:spcAft>
                <a:spcPts val="0"/>
              </a:spcAft>
              <a:buSzPts val="1400"/>
              <a:buChar char="●"/>
            </a:pPr>
            <a:r>
              <a:rPr lang="en-US"/>
              <a:t>Finally, we converted our target column into a binary label: Fresh, for 60% or more positive critic reviews, and Rotten for anything below that. </a:t>
            </a:r>
            <a:endParaRPr/>
          </a:p>
          <a:p>
            <a:pPr indent="-317500" lvl="0" marL="457200" rtl="0" algn="l">
              <a:lnSpc>
                <a:spcPct val="115000"/>
              </a:lnSpc>
              <a:spcBef>
                <a:spcPts val="0"/>
              </a:spcBef>
              <a:spcAft>
                <a:spcPts val="0"/>
              </a:spcAft>
              <a:buSzPts val="1400"/>
              <a:buChar char="●"/>
            </a:pPr>
            <a:r>
              <a:rPr lang="en-US"/>
              <a:t>After all this preparation, our final dataset had 8,934 rows and 10 columns.</a:t>
            </a:r>
            <a:endParaRPr/>
          </a:p>
          <a:p>
            <a:pPr indent="0" lvl="0" marL="0" rtl="0" algn="l">
              <a:spcBef>
                <a:spcPts val="120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Before training any model, we split our data into train and test sets, using stratification to keep the same Fresh-to-Rotten distribution in both.</a:t>
            </a:r>
            <a:endParaRPr/>
          </a:p>
          <a:p>
            <a:pPr indent="-317500" lvl="0" marL="457200" rtl="0" algn="l">
              <a:lnSpc>
                <a:spcPct val="115000"/>
              </a:lnSpc>
              <a:spcBef>
                <a:spcPts val="0"/>
              </a:spcBef>
              <a:spcAft>
                <a:spcPts val="0"/>
              </a:spcAft>
              <a:buSzPts val="1400"/>
              <a:buChar char="●"/>
            </a:pPr>
            <a:r>
              <a:rPr lang="en-US"/>
              <a:t>All categorical columns were converted with One-Hot Encoding, and we made sure the test set always had the exact same columns as the training set, to avoid mismatches later.</a:t>
            </a:r>
            <a:endParaRPr/>
          </a:p>
          <a:p>
            <a:pPr indent="-317500" lvl="0" marL="457200" rtl="0" algn="l">
              <a:lnSpc>
                <a:spcPct val="115000"/>
              </a:lnSpc>
              <a:spcBef>
                <a:spcPts val="0"/>
              </a:spcBef>
              <a:spcAft>
                <a:spcPts val="0"/>
              </a:spcAft>
              <a:buSzPts val="1400"/>
              <a:buChar char="●"/>
            </a:pPr>
            <a:r>
              <a:rPr lang="en-US"/>
              <a:t>For numerical features like runtime, we applied MinMaxScaler, which keeps ensemble models stable during training.</a:t>
            </a:r>
            <a:endParaRPr/>
          </a:p>
          <a:p>
            <a:pPr indent="-317500" lvl="0" marL="457200" rtl="0" algn="l">
              <a:lnSpc>
                <a:spcPct val="115000"/>
              </a:lnSpc>
              <a:spcBef>
                <a:spcPts val="0"/>
              </a:spcBef>
              <a:spcAft>
                <a:spcPts val="0"/>
              </a:spcAft>
              <a:buSzPts val="1400"/>
              <a:buChar char="●"/>
            </a:pPr>
            <a:r>
              <a:rPr lang="en-US"/>
              <a:t>On the selection side, we removed movie_title column, since it's just an identifier. What we kept were the features that actually carry predictive signal such as release date, runtime, content group, genre, and the director, author, actor, and production-company clusters.</a:t>
            </a:r>
            <a:endParaRPr/>
          </a:p>
          <a:p>
            <a:pPr indent="0" lvl="0" marL="0" rtl="0" algn="l">
              <a:spcBef>
                <a:spcPts val="120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So, what can this model actually be used for? Streaming platforms and studios could use it to anticipate how a movie will be received before it's even released, helping with marketing and content acquisition decisions.</a:t>
            </a:r>
            <a:endParaRPr/>
          </a:p>
          <a:p>
            <a:pPr indent="-317500" lvl="0" marL="457200" rtl="0" algn="l">
              <a:lnSpc>
                <a:spcPct val="115000"/>
              </a:lnSpc>
              <a:spcBef>
                <a:spcPts val="0"/>
              </a:spcBef>
              <a:spcAft>
                <a:spcPts val="0"/>
              </a:spcAft>
              <a:buSzPts val="1400"/>
              <a:buChar char="●"/>
            </a:pPr>
            <a:r>
              <a:rPr lang="en-US"/>
              <a:t>More broadly, this kind of model gives data-driven insight that can reduce financial risk and improve recommendation quality.</a:t>
            </a:r>
            <a:endParaRPr/>
          </a:p>
          <a:p>
            <a:pPr indent="-317500" lvl="0" marL="457200" rtl="0" algn="l">
              <a:lnSpc>
                <a:spcPct val="115000"/>
              </a:lnSpc>
              <a:spcBef>
                <a:spcPts val="0"/>
              </a:spcBef>
              <a:spcAft>
                <a:spcPts val="0"/>
              </a:spcAft>
              <a:buSzPts val="1400"/>
              <a:buChar char="●"/>
            </a:pPr>
            <a:r>
              <a:rPr lang="en-US"/>
              <a:t>But it's important to be honest about the limits. This model learns from historical patterns, so it can reinforce existing industry biases. It also doesn't understand creative factors like script quality or acting. Predictions like these should support human judgment, not replace it — and the model would need regular updates as audience tastes change.</a:t>
            </a:r>
            <a:endParaRPr/>
          </a:p>
          <a:p>
            <a:pPr indent="0" lvl="0" marL="0" rtl="0" algn="l">
              <a:spcBef>
                <a:spcPts val="1200"/>
              </a:spcBef>
              <a:spcAft>
                <a:spcPts val="0"/>
              </a:spcAft>
              <a:buNone/>
            </a:pPr>
            <a:r>
              <a:t/>
            </a:r>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ba093046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fba0930468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Now to finish, a few things we learned along the way:</a:t>
            </a:r>
            <a:endParaRPr/>
          </a:p>
          <a:p>
            <a:pPr indent="-317500" lvl="0" marL="457200" rtl="0" algn="l">
              <a:lnSpc>
                <a:spcPct val="115000"/>
              </a:lnSpc>
              <a:spcBef>
                <a:spcPts val="0"/>
              </a:spcBef>
              <a:spcAft>
                <a:spcPts val="0"/>
              </a:spcAft>
              <a:buSzPts val="1400"/>
              <a:buChar char="●"/>
            </a:pPr>
            <a:r>
              <a:rPr lang="en-US"/>
              <a:t>First, normalization — we scaled our numbers so the models could compare them fairly.</a:t>
            </a:r>
            <a:endParaRPr/>
          </a:p>
          <a:p>
            <a:pPr indent="-317500" lvl="0" marL="457200" rtl="0" algn="l">
              <a:lnSpc>
                <a:spcPct val="115000"/>
              </a:lnSpc>
              <a:spcBef>
                <a:spcPts val="0"/>
              </a:spcBef>
              <a:spcAft>
                <a:spcPts val="0"/>
              </a:spcAft>
              <a:buSzPts val="1400"/>
              <a:buChar char="●"/>
            </a:pPr>
            <a:r>
              <a:rPr lang="en-US"/>
              <a:t>Second, high dimensionality — One-Hot Encoding created many new columns, so we had to keep the model simple and easy to understand.</a:t>
            </a:r>
            <a:endParaRPr/>
          </a:p>
          <a:p>
            <a:pPr indent="-317500" lvl="0" marL="457200" rtl="0" algn="l">
              <a:lnSpc>
                <a:spcPct val="115000"/>
              </a:lnSpc>
              <a:spcBef>
                <a:spcPts val="0"/>
              </a:spcBef>
              <a:spcAft>
                <a:spcPts val="0"/>
              </a:spcAft>
              <a:buSzPts val="1400"/>
              <a:buChar char="●"/>
            </a:pPr>
            <a:r>
              <a:rPr lang="en-US"/>
              <a:t>Third, search instability — even after testing 50-plus combinations automatically, the best model we found still overfit. More testing doesn't always mean a better model.</a:t>
            </a:r>
            <a:endParaRPr/>
          </a:p>
          <a:p>
            <a:pPr indent="-317500" lvl="0" marL="457200" rtl="0" algn="l">
              <a:lnSpc>
                <a:spcPct val="115000"/>
              </a:lnSpc>
              <a:spcBef>
                <a:spcPts val="0"/>
              </a:spcBef>
              <a:spcAft>
                <a:spcPts val="0"/>
              </a:spcAft>
              <a:buSzPts val="1400"/>
              <a:buChar char="●"/>
            </a:pPr>
            <a:r>
              <a:rPr lang="en-US"/>
              <a:t>Next, data leakage — we made sure no test data accidentally leaked into training.</a:t>
            </a:r>
            <a:endParaRPr/>
          </a:p>
          <a:p>
            <a:pPr indent="-317500" lvl="0" marL="457200" rtl="0" algn="l">
              <a:lnSpc>
                <a:spcPct val="115000"/>
              </a:lnSpc>
              <a:spcBef>
                <a:spcPts val="0"/>
              </a:spcBef>
              <a:spcAft>
                <a:spcPts val="0"/>
              </a:spcAft>
              <a:buSzPts val="1400"/>
              <a:buChar char="●"/>
            </a:pPr>
            <a:r>
              <a:rPr lang="en-US"/>
              <a:t>And finally, our biggest lesson: overfitting. We saw it in every model, and it taught us how settings like max_depth and regularization affect performance on new data.</a:t>
            </a:r>
            <a:endParaRPr/>
          </a:p>
        </p:txBody>
      </p:sp>
      <p:sp>
        <p:nvSpPr>
          <p:cNvPr id="223" name="Google Shape;223;g3fba0930468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Jero will share his screen to do a quick demonstration of our model predictions</a:t>
            </a:r>
            <a:endParaRPr/>
          </a:p>
        </p:txBody>
      </p:sp>
      <p:sp>
        <p:nvSpPr>
          <p:cNvPr id="256" name="Google Shape;2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tmp/claude-0/-home-user-ML-Rotten-Tomato-Project/a57ab96b-d0eb-50cc-9cc4-88de4a48a829/scratchpad/work/assets/bg_gradient.png" id="16" name="Google Shape;16;p1"/>
          <p:cNvPicPr preferRelativeResize="0"/>
          <p:nvPr/>
        </p:nvPicPr>
        <p:blipFill rotWithShape="1">
          <a:blip r:embed="rId3">
            <a:alphaModFix/>
          </a:blip>
          <a:srcRect b="0" l="0" r="0" t="0"/>
          <a:stretch/>
        </p:blipFill>
        <p:spPr>
          <a:xfrm>
            <a:off x="-64008" y="-91440"/>
            <a:ext cx="9281160" cy="5321808"/>
          </a:xfrm>
          <a:prstGeom prst="rect">
            <a:avLst/>
          </a:prstGeom>
          <a:noFill/>
          <a:ln>
            <a:noFill/>
          </a:ln>
        </p:spPr>
      </p:pic>
      <p:sp>
        <p:nvSpPr>
          <p:cNvPr id="17" name="Google Shape;17;p1"/>
          <p:cNvSpPr txBox="1"/>
          <p:nvPr/>
        </p:nvSpPr>
        <p:spPr>
          <a:xfrm>
            <a:off x="1069848" y="1728216"/>
            <a:ext cx="6995160" cy="9966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300"/>
              <a:buFont typeface="Bebas Neue"/>
              <a:buNone/>
            </a:pPr>
            <a:r>
              <a:rPr b="1" i="0" lang="en-US" sz="5300" u="none" cap="none" strike="noStrike">
                <a:solidFill>
                  <a:srgbClr val="FFFFFF"/>
                </a:solidFill>
                <a:latin typeface="Bebas Neue"/>
                <a:ea typeface="Bebas Neue"/>
                <a:cs typeface="Bebas Neue"/>
                <a:sym typeface="Bebas Neue"/>
              </a:rPr>
              <a:t>PREDICTING THE</a:t>
            </a:r>
            <a:r>
              <a:rPr b="1" i="0" lang="en-US" sz="5300" u="none" cap="none" strike="noStrike">
                <a:solidFill>
                  <a:srgbClr val="5C1710"/>
                </a:solidFill>
                <a:latin typeface="Bebas Neue"/>
                <a:ea typeface="Bebas Neue"/>
                <a:cs typeface="Bebas Neue"/>
                <a:sym typeface="Bebas Neue"/>
              </a:rPr>
              <a:t> </a:t>
            </a:r>
            <a:r>
              <a:rPr b="1" i="0" lang="en-US" sz="5300" u="none" cap="none" strike="noStrike">
                <a:solidFill>
                  <a:srgbClr val="F83206"/>
                </a:solidFill>
                <a:latin typeface="Bebas Neue"/>
                <a:ea typeface="Bebas Neue"/>
                <a:cs typeface="Bebas Neue"/>
                <a:sym typeface="Bebas Neue"/>
              </a:rPr>
              <a:t>TOMATOMETER</a:t>
            </a:r>
            <a:endParaRPr b="0" i="0" sz="5300" u="none" cap="none" strike="noStrike">
              <a:solidFill>
                <a:schemeClr val="dk1"/>
              </a:solidFill>
              <a:latin typeface="Calibri"/>
              <a:ea typeface="Calibri"/>
              <a:cs typeface="Calibri"/>
              <a:sym typeface="Calibri"/>
            </a:endParaRPr>
          </a:p>
        </p:txBody>
      </p:sp>
      <p:sp>
        <p:nvSpPr>
          <p:cNvPr id="18" name="Google Shape;18;p1"/>
          <p:cNvSpPr txBox="1"/>
          <p:nvPr/>
        </p:nvSpPr>
        <p:spPr>
          <a:xfrm>
            <a:off x="2359152" y="1335024"/>
            <a:ext cx="4425696" cy="4480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AC4F"/>
              </a:buClr>
              <a:buSzPts val="1700"/>
              <a:buFont typeface="Bebas Neue"/>
              <a:buNone/>
            </a:pPr>
            <a:r>
              <a:rPr b="0" i="0" lang="en-US" sz="1700" u="none" cap="none" strike="noStrike">
                <a:solidFill>
                  <a:srgbClr val="3FAC4F"/>
                </a:solidFill>
                <a:latin typeface="Bebas Neue"/>
                <a:ea typeface="Bebas Neue"/>
                <a:cs typeface="Bebas Neue"/>
                <a:sym typeface="Bebas Neue"/>
              </a:rPr>
              <a:t>MACHINE LEARNING PROJECT</a:t>
            </a:r>
            <a:endParaRPr b="0" i="0" sz="1700" u="none" cap="none" strike="noStrike">
              <a:solidFill>
                <a:schemeClr val="dk1"/>
              </a:solidFill>
              <a:latin typeface="Calibri"/>
              <a:ea typeface="Calibri"/>
              <a:cs typeface="Calibri"/>
              <a:sym typeface="Calibri"/>
            </a:endParaRPr>
          </a:p>
        </p:txBody>
      </p:sp>
      <p:sp>
        <p:nvSpPr>
          <p:cNvPr id="19" name="Google Shape;19;p1"/>
          <p:cNvSpPr txBox="1"/>
          <p:nvPr/>
        </p:nvSpPr>
        <p:spPr>
          <a:xfrm>
            <a:off x="1453896" y="2734056"/>
            <a:ext cx="623620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1" i="0" lang="en-US" sz="1100" u="none" cap="none" strike="noStrike">
                <a:solidFill>
                  <a:srgbClr val="D9D9D9"/>
                </a:solidFill>
                <a:latin typeface="Work Sans"/>
                <a:ea typeface="Work Sans"/>
                <a:cs typeface="Work Sans"/>
                <a:sym typeface="Work Sans"/>
              </a:rPr>
              <a:t>Rotten Tomatoes Case: A Machine Learning Model for </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9"/>
              </a:buClr>
              <a:buSzPts val="1100"/>
              <a:buFont typeface="Work Sans"/>
              <a:buNone/>
            </a:pPr>
            <a:r>
              <a:rPr b="1" i="0" lang="en-US" sz="1100" u="none" cap="none" strike="noStrike">
                <a:solidFill>
                  <a:srgbClr val="D9D9D9"/>
                </a:solidFill>
                <a:latin typeface="Work Sans"/>
                <a:ea typeface="Work Sans"/>
                <a:cs typeface="Work Sans"/>
                <a:sym typeface="Work Sans"/>
              </a:rPr>
              <a:t>Fresh vs Rotten Classification </a:t>
            </a:r>
            <a:endParaRPr b="0" i="0" sz="1100" u="none" cap="none" strike="noStrike">
              <a:solidFill>
                <a:schemeClr val="dk1"/>
              </a:solidFill>
              <a:latin typeface="Calibri"/>
              <a:ea typeface="Calibri"/>
              <a:cs typeface="Calibri"/>
              <a:sym typeface="Calibri"/>
            </a:endParaRPr>
          </a:p>
        </p:txBody>
      </p:sp>
      <p:sp>
        <p:nvSpPr>
          <p:cNvPr id="20" name="Google Shape;20;p1"/>
          <p:cNvSpPr txBox="1"/>
          <p:nvPr/>
        </p:nvSpPr>
        <p:spPr>
          <a:xfrm>
            <a:off x="1609344" y="3803904"/>
            <a:ext cx="5925312"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Ana Claudia Russo &amp; Jeronimo Cagliero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Ironhack, Data Analytics Bootcamp - Sep, 2026</a:t>
            </a:r>
            <a:endParaRPr b="0" i="0" sz="1000" u="none" cap="none" strike="noStrike">
              <a:solidFill>
                <a:schemeClr val="dk1"/>
              </a:solidFill>
              <a:latin typeface="Calibri"/>
              <a:ea typeface="Calibri"/>
              <a:cs typeface="Calibri"/>
              <a:sym typeface="Calibri"/>
            </a:endParaRPr>
          </a:p>
        </p:txBody>
      </p:sp>
      <p:pic>
        <p:nvPicPr>
          <p:cNvPr descr="/tmp/claude-0/-home-user-ML-Rotten-Tomato-Project/a57ab96b-d0eb-50cc-9cc4-88de4a48a829/scratchpad/work/assets/splat_red.png" id="21" name="Google Shape;21;p1"/>
          <p:cNvPicPr preferRelativeResize="0"/>
          <p:nvPr/>
        </p:nvPicPr>
        <p:blipFill rotWithShape="1">
          <a:blip r:embed="rId4">
            <a:alphaModFix/>
          </a:blip>
          <a:srcRect b="0" l="0" r="0" t="0"/>
          <a:stretch/>
        </p:blipFill>
        <p:spPr>
          <a:xfrm>
            <a:off x="4270248" y="685800"/>
            <a:ext cx="603504" cy="603504"/>
          </a:xfrm>
          <a:prstGeom prst="rect">
            <a:avLst/>
          </a:prstGeom>
          <a:noFill/>
          <a:ln>
            <a:noFill/>
          </a:ln>
        </p:spPr>
      </p:pic>
      <p:sp>
        <p:nvSpPr>
          <p:cNvPr id="22" name="Google Shape;22;p1"/>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7" name="Shape 27"/>
        <p:cNvGrpSpPr/>
        <p:nvPr/>
      </p:nvGrpSpPr>
      <p:grpSpPr>
        <a:xfrm>
          <a:off x="0" y="0"/>
          <a:ext cx="0" cy="0"/>
          <a:chOff x="0" y="0"/>
          <a:chExt cx="0" cy="0"/>
        </a:xfrm>
      </p:grpSpPr>
      <p:sp>
        <p:nvSpPr>
          <p:cNvPr id="28" name="Google Shape;28;p2"/>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01 · PROJECT OVERVIEW</a:t>
            </a:r>
            <a:endParaRPr b="1" i="0" sz="1100" u="none" cap="none" strike="noStrike">
              <a:solidFill>
                <a:srgbClr val="BF9000"/>
              </a:solidFill>
              <a:latin typeface="Work Sans"/>
              <a:ea typeface="Work Sans"/>
              <a:cs typeface="Work Sans"/>
              <a:sym typeface="Work Sans"/>
            </a:endParaRPr>
          </a:p>
        </p:txBody>
      </p:sp>
      <p:sp>
        <p:nvSpPr>
          <p:cNvPr id="29" name="Google Shape;29;p2"/>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i="0" lang="en-US" sz="2900" u="none" cap="none" strike="noStrike">
                <a:solidFill>
                  <a:srgbClr val="FFFFFF"/>
                </a:solidFill>
                <a:latin typeface="Bebas Neue"/>
                <a:ea typeface="Bebas Neue"/>
                <a:cs typeface="Bebas Neue"/>
                <a:sym typeface="Bebas Neue"/>
              </a:rPr>
              <a:t>THE GOAL &amp; THE DATASET</a:t>
            </a:r>
            <a:endParaRPr b="0" i="0" sz="2900" u="none" cap="none" strike="noStrike">
              <a:solidFill>
                <a:schemeClr val="dk1"/>
              </a:solidFill>
              <a:latin typeface="Calibri"/>
              <a:ea typeface="Calibri"/>
              <a:cs typeface="Calibri"/>
              <a:sym typeface="Calibri"/>
            </a:endParaRPr>
          </a:p>
        </p:txBody>
      </p:sp>
      <p:sp>
        <p:nvSpPr>
          <p:cNvPr id="30" name="Google Shape;30;p2"/>
          <p:cNvSpPr/>
          <p:nvPr/>
        </p:nvSpPr>
        <p:spPr>
          <a:xfrm>
            <a:off x="658786" y="1288475"/>
            <a:ext cx="3794700" cy="3401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742414" y="1288475"/>
            <a:ext cx="3794700" cy="3401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txBox="1"/>
          <p:nvPr/>
        </p:nvSpPr>
        <p:spPr>
          <a:xfrm>
            <a:off x="933104" y="1452130"/>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500"/>
              <a:buFont typeface="Bebas Neue"/>
              <a:buNone/>
            </a:pPr>
            <a:r>
              <a:rPr b="1" i="0" lang="en-US" sz="1600" u="none" cap="none" strike="noStrike">
                <a:solidFill>
                  <a:srgbClr val="3FAC4F"/>
                </a:solidFill>
                <a:latin typeface="Work Sans"/>
                <a:ea typeface="Work Sans"/>
                <a:cs typeface="Work Sans"/>
                <a:sym typeface="Work Sans"/>
              </a:rPr>
              <a:t>THE GOAL</a:t>
            </a:r>
            <a:endParaRPr b="1" i="0" sz="1600" u="none" cap="none" strike="noStrike">
              <a:solidFill>
                <a:schemeClr val="dk1"/>
              </a:solidFill>
              <a:latin typeface="Work Sans"/>
              <a:ea typeface="Work Sans"/>
              <a:cs typeface="Work Sans"/>
              <a:sym typeface="Work Sans"/>
            </a:endParaRPr>
          </a:p>
        </p:txBody>
      </p:sp>
      <p:sp>
        <p:nvSpPr>
          <p:cNvPr id="33" name="Google Shape;33;p2"/>
          <p:cNvSpPr/>
          <p:nvPr/>
        </p:nvSpPr>
        <p:spPr>
          <a:xfrm>
            <a:off x="933104" y="197427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txBox="1"/>
          <p:nvPr/>
        </p:nvSpPr>
        <p:spPr>
          <a:xfrm>
            <a:off x="933104" y="19651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5" name="Google Shape;35;p2"/>
          <p:cNvSpPr txBox="1"/>
          <p:nvPr/>
        </p:nvSpPr>
        <p:spPr>
          <a:xfrm>
            <a:off x="1536608" y="19468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GOAL</a:t>
            </a:r>
            <a:endParaRPr b="1" i="0" sz="1200" u="none" cap="none" strike="noStrike">
              <a:solidFill>
                <a:schemeClr val="dk1"/>
              </a:solidFill>
              <a:latin typeface="Work Sans"/>
              <a:ea typeface="Work Sans"/>
              <a:cs typeface="Work Sans"/>
              <a:sym typeface="Work Sans"/>
            </a:endParaRPr>
          </a:p>
        </p:txBody>
      </p:sp>
      <p:sp>
        <p:nvSpPr>
          <p:cNvPr id="36" name="Google Shape;36;p2"/>
          <p:cNvSpPr txBox="1"/>
          <p:nvPr/>
        </p:nvSpPr>
        <p:spPr>
          <a:xfrm>
            <a:off x="1536608" y="22211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Predict whether a movie is Fresh or Rotten using ML, based on metadata and audience/critic signals.</a:t>
            </a:r>
            <a:endParaRPr b="0" i="0" sz="1100" u="none" cap="none" strike="noStrike">
              <a:solidFill>
                <a:schemeClr val="dk1"/>
              </a:solidFill>
              <a:latin typeface="Calibri"/>
              <a:ea typeface="Calibri"/>
              <a:cs typeface="Calibri"/>
              <a:sym typeface="Calibri"/>
            </a:endParaRPr>
          </a:p>
        </p:txBody>
      </p:sp>
      <p:sp>
        <p:nvSpPr>
          <p:cNvPr id="37" name="Google Shape;37;p2"/>
          <p:cNvSpPr/>
          <p:nvPr/>
        </p:nvSpPr>
        <p:spPr>
          <a:xfrm>
            <a:off x="933104" y="288867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txBox="1"/>
          <p:nvPr/>
        </p:nvSpPr>
        <p:spPr>
          <a:xfrm>
            <a:off x="933104" y="28795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9" name="Google Shape;39;p2"/>
          <p:cNvSpPr txBox="1"/>
          <p:nvPr/>
        </p:nvSpPr>
        <p:spPr>
          <a:xfrm>
            <a:off x="1536608" y="28612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ML </a:t>
            </a:r>
            <a:r>
              <a:rPr b="1" lang="en-US" sz="1200">
                <a:solidFill>
                  <a:srgbClr val="FFFFFF"/>
                </a:solidFill>
                <a:latin typeface="Work Sans"/>
                <a:ea typeface="Work Sans"/>
                <a:cs typeface="Work Sans"/>
                <a:sym typeface="Work Sans"/>
              </a:rPr>
              <a:t>TASK</a:t>
            </a:r>
            <a:endParaRPr b="1" i="0" sz="1200" u="none" cap="none" strike="noStrike">
              <a:solidFill>
                <a:schemeClr val="dk1"/>
              </a:solidFill>
              <a:latin typeface="Work Sans"/>
              <a:ea typeface="Work Sans"/>
              <a:cs typeface="Work Sans"/>
              <a:sym typeface="Work Sans"/>
            </a:endParaRPr>
          </a:p>
        </p:txBody>
      </p:sp>
      <p:sp>
        <p:nvSpPr>
          <p:cNvPr id="40" name="Google Shape;40;p2"/>
          <p:cNvSpPr txBox="1"/>
          <p:nvPr/>
        </p:nvSpPr>
        <p:spPr>
          <a:xfrm>
            <a:off x="1536608" y="31355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Binary classification, trained on historical rating patterns.</a:t>
            </a:r>
            <a:endParaRPr b="0" i="0" sz="1100" u="none" cap="none" strike="noStrike">
              <a:solidFill>
                <a:schemeClr val="dk1"/>
              </a:solidFill>
              <a:latin typeface="Calibri"/>
              <a:ea typeface="Calibri"/>
              <a:cs typeface="Calibri"/>
              <a:sym typeface="Calibri"/>
            </a:endParaRPr>
          </a:p>
        </p:txBody>
      </p:sp>
      <p:sp>
        <p:nvSpPr>
          <p:cNvPr id="41" name="Google Shape;41;p2"/>
          <p:cNvSpPr/>
          <p:nvPr/>
        </p:nvSpPr>
        <p:spPr>
          <a:xfrm>
            <a:off x="933104" y="362019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933104" y="361104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3" name="Google Shape;43;p2"/>
          <p:cNvSpPr txBox="1"/>
          <p:nvPr/>
        </p:nvSpPr>
        <p:spPr>
          <a:xfrm>
            <a:off x="1536608" y="359276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WHY IT MATTERS</a:t>
            </a:r>
            <a:endParaRPr b="1" i="0" sz="1200" u="none" cap="none" strike="noStrike">
              <a:solidFill>
                <a:schemeClr val="dk1"/>
              </a:solidFill>
              <a:latin typeface="Work Sans"/>
              <a:ea typeface="Work Sans"/>
              <a:cs typeface="Work Sans"/>
              <a:sym typeface="Work Sans"/>
            </a:endParaRPr>
          </a:p>
        </p:txBody>
      </p:sp>
      <p:sp>
        <p:nvSpPr>
          <p:cNvPr id="44" name="Google Shape;44;p2"/>
          <p:cNvSpPr txBox="1"/>
          <p:nvPr/>
        </p:nvSpPr>
        <p:spPr>
          <a:xfrm>
            <a:off x="1536608" y="386708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50"/>
              <a:buFont typeface="Work Sans"/>
              <a:buNone/>
            </a:pPr>
            <a:r>
              <a:rPr b="0" i="0" lang="en-US" sz="1100" u="none" cap="none" strike="noStrike">
                <a:solidFill>
                  <a:srgbClr val="D9D9D9"/>
                </a:solidFill>
                <a:latin typeface="Work Sans"/>
                <a:ea typeface="Work Sans"/>
                <a:cs typeface="Work Sans"/>
                <a:sym typeface="Work Sans"/>
              </a:rPr>
              <a:t>Reveals which factors drive critical reception — valuable for studios and streaming platforms.</a:t>
            </a:r>
            <a:endParaRPr b="0" i="0" sz="1100" u="none" cap="none" strike="noStrike">
              <a:solidFill>
                <a:schemeClr val="dk1"/>
              </a:solidFill>
              <a:latin typeface="Calibri"/>
              <a:ea typeface="Calibri"/>
              <a:cs typeface="Calibri"/>
              <a:sym typeface="Calibri"/>
            </a:endParaRPr>
          </a:p>
        </p:txBody>
      </p:sp>
      <p:sp>
        <p:nvSpPr>
          <p:cNvPr id="45" name="Google Shape;45;p2"/>
          <p:cNvSpPr txBox="1"/>
          <p:nvPr/>
        </p:nvSpPr>
        <p:spPr>
          <a:xfrm>
            <a:off x="5016731" y="1452130"/>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500"/>
              <a:buFont typeface="Bebas Neue"/>
              <a:buNone/>
            </a:pPr>
            <a:r>
              <a:rPr b="1" i="0" lang="en-US" sz="1600" u="none" cap="none" strike="noStrike">
                <a:solidFill>
                  <a:srgbClr val="F83206"/>
                </a:solidFill>
                <a:latin typeface="Work Sans"/>
                <a:ea typeface="Work Sans"/>
                <a:cs typeface="Work Sans"/>
                <a:sym typeface="Work Sans"/>
              </a:rPr>
              <a:t>THE DATASET</a:t>
            </a:r>
            <a:endParaRPr b="1" i="0" sz="1600" u="none" cap="none" strike="noStrike">
              <a:solidFill>
                <a:schemeClr val="dk1"/>
              </a:solidFill>
              <a:latin typeface="Work Sans"/>
              <a:ea typeface="Work Sans"/>
              <a:cs typeface="Work Sans"/>
              <a:sym typeface="Work Sans"/>
            </a:endParaRPr>
          </a:p>
        </p:txBody>
      </p:sp>
      <p:sp>
        <p:nvSpPr>
          <p:cNvPr id="46" name="Google Shape;46;p2"/>
          <p:cNvSpPr/>
          <p:nvPr/>
        </p:nvSpPr>
        <p:spPr>
          <a:xfrm>
            <a:off x="5016731" y="197427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5016731" y="19651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8" name="Google Shape;48;p2"/>
          <p:cNvSpPr txBox="1"/>
          <p:nvPr/>
        </p:nvSpPr>
        <p:spPr>
          <a:xfrm>
            <a:off x="5620235" y="19468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SOURCE</a:t>
            </a:r>
            <a:endParaRPr b="1" i="0" sz="1200" u="none" cap="none" strike="noStrike">
              <a:solidFill>
                <a:schemeClr val="dk1"/>
              </a:solidFill>
              <a:latin typeface="Work Sans"/>
              <a:ea typeface="Work Sans"/>
              <a:cs typeface="Work Sans"/>
              <a:sym typeface="Work Sans"/>
            </a:endParaRPr>
          </a:p>
        </p:txBody>
      </p:sp>
      <p:sp>
        <p:nvSpPr>
          <p:cNvPr id="49" name="Google Shape;49;p2"/>
          <p:cNvSpPr txBox="1"/>
          <p:nvPr/>
        </p:nvSpPr>
        <p:spPr>
          <a:xfrm>
            <a:off x="5620235" y="22211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Rotten Tomatoes: a website that aggregates movie ratings from critics and audiences worldwide.</a:t>
            </a:r>
            <a:endParaRPr b="0" i="0" sz="1100" u="none" cap="none" strike="noStrike">
              <a:solidFill>
                <a:schemeClr val="dk1"/>
              </a:solidFill>
              <a:latin typeface="Calibri"/>
              <a:ea typeface="Calibri"/>
              <a:cs typeface="Calibri"/>
              <a:sym typeface="Calibri"/>
            </a:endParaRPr>
          </a:p>
        </p:txBody>
      </p:sp>
      <p:sp>
        <p:nvSpPr>
          <p:cNvPr id="50" name="Google Shape;50;p2"/>
          <p:cNvSpPr/>
          <p:nvPr/>
        </p:nvSpPr>
        <p:spPr>
          <a:xfrm>
            <a:off x="5016731" y="302583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txBox="1"/>
          <p:nvPr/>
        </p:nvSpPr>
        <p:spPr>
          <a:xfrm>
            <a:off x="5016731" y="301668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2" name="Google Shape;52;p2"/>
          <p:cNvSpPr txBox="1"/>
          <p:nvPr/>
        </p:nvSpPr>
        <p:spPr>
          <a:xfrm>
            <a:off x="5620235" y="299840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DATASET</a:t>
            </a:r>
            <a:endParaRPr b="1" i="0" sz="1200" u="none" cap="none" strike="noStrike">
              <a:solidFill>
                <a:schemeClr val="dk1"/>
              </a:solidFill>
              <a:latin typeface="Work Sans"/>
              <a:ea typeface="Work Sans"/>
              <a:cs typeface="Work Sans"/>
              <a:sym typeface="Work Sans"/>
            </a:endParaRPr>
          </a:p>
        </p:txBody>
      </p:sp>
      <p:sp>
        <p:nvSpPr>
          <p:cNvPr id="53" name="Google Shape;53;p2"/>
          <p:cNvSpPr txBox="1"/>
          <p:nvPr/>
        </p:nvSpPr>
        <p:spPr>
          <a:xfrm>
            <a:off x="5620235" y="327272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50"/>
              <a:buFont typeface="Work Sans"/>
              <a:buNone/>
            </a:pPr>
            <a:r>
              <a:rPr b="1" i="1" lang="en-US" sz="1100" u="none" cap="none" strike="noStrike">
                <a:solidFill>
                  <a:srgbClr val="D9D9D9"/>
                </a:solidFill>
                <a:latin typeface="Work Sans"/>
                <a:ea typeface="Work Sans"/>
                <a:cs typeface="Work Sans"/>
                <a:sym typeface="Work Sans"/>
              </a:rPr>
              <a:t>rotten_tomatoes_movies.csv</a:t>
            </a:r>
            <a:r>
              <a:rPr b="0" i="0" lang="en-US" sz="1100" u="none" cap="none" strike="noStrike">
                <a:solidFill>
                  <a:srgbClr val="D9D9D9"/>
                </a:solidFill>
                <a:latin typeface="Work Sans"/>
                <a:ea typeface="Work Sans"/>
                <a:cs typeface="Work Sans"/>
                <a:sym typeface="Work Sans"/>
              </a:rPr>
              <a:t> — title, genre, cast, runtime, audience &amp; critics' scores (scraped Oct 2020).</a:t>
            </a:r>
            <a:endParaRPr b="0" i="0" sz="1100" u="none" cap="none" strike="noStrike">
              <a:solidFill>
                <a:schemeClr val="dk1"/>
              </a:solidFill>
              <a:latin typeface="Calibri"/>
              <a:ea typeface="Calibri"/>
              <a:cs typeface="Calibri"/>
              <a:sym typeface="Calibri"/>
            </a:endParaRPr>
          </a:p>
        </p:txBody>
      </p:sp>
      <p:sp>
        <p:nvSpPr>
          <p:cNvPr id="54" name="Google Shape;54;p2"/>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59" name="Shape 59"/>
        <p:cNvGrpSpPr/>
        <p:nvPr/>
      </p:nvGrpSpPr>
      <p:grpSpPr>
        <a:xfrm>
          <a:off x="0" y="0"/>
          <a:ext cx="0" cy="0"/>
          <a:chOff x="0" y="0"/>
          <a:chExt cx="0" cy="0"/>
        </a:xfrm>
      </p:grpSpPr>
      <p:sp>
        <p:nvSpPr>
          <p:cNvPr id="60" name="Google Shape;60;p3"/>
          <p:cNvSpPr/>
          <p:nvPr/>
        </p:nvSpPr>
        <p:spPr>
          <a:xfrm>
            <a:off x="822960" y="1253601"/>
            <a:ext cx="2834700" cy="14172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822960" y="1415803"/>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300"/>
              <a:buFont typeface="Bebas Neue"/>
              <a:buNone/>
            </a:pPr>
            <a:r>
              <a:rPr b="0" i="0" lang="en-US" sz="1300" u="none" cap="none" strike="noStrike">
                <a:solidFill>
                  <a:srgbClr val="B7B7B7"/>
                </a:solidFill>
                <a:latin typeface="Bebas Neue"/>
                <a:ea typeface="Bebas Neue"/>
                <a:cs typeface="Bebas Neue"/>
                <a:sym typeface="Bebas Neue"/>
              </a:rPr>
              <a:t>RAW DATA</a:t>
            </a:r>
            <a:endParaRPr b="0" i="0" sz="1300" u="none" cap="none" strike="noStrike">
              <a:solidFill>
                <a:schemeClr val="dk1"/>
              </a:solidFill>
              <a:latin typeface="Calibri"/>
              <a:ea typeface="Calibri"/>
              <a:cs typeface="Calibri"/>
              <a:sym typeface="Calibri"/>
            </a:endParaRPr>
          </a:p>
        </p:txBody>
      </p:sp>
      <p:sp>
        <p:nvSpPr>
          <p:cNvPr id="62" name="Google Shape;62;p3"/>
          <p:cNvSpPr txBox="1"/>
          <p:nvPr/>
        </p:nvSpPr>
        <p:spPr>
          <a:xfrm>
            <a:off x="822960" y="1671835"/>
            <a:ext cx="28347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Bebas Neue"/>
              <a:buNone/>
            </a:pPr>
            <a:r>
              <a:rPr b="1" i="0" lang="en-US" sz="4000" u="none" cap="none" strike="noStrike">
                <a:solidFill>
                  <a:srgbClr val="FFFFFF"/>
                </a:solidFill>
                <a:latin typeface="Bebas Neue"/>
                <a:ea typeface="Bebas Neue"/>
                <a:cs typeface="Bebas Neue"/>
                <a:sym typeface="Bebas Neue"/>
              </a:rPr>
              <a:t>17,712</a:t>
            </a:r>
            <a:endParaRPr b="0" i="0" sz="4000" u="none" cap="none" strike="noStrike">
              <a:solidFill>
                <a:schemeClr val="dk1"/>
              </a:solidFill>
              <a:latin typeface="Calibri"/>
              <a:ea typeface="Calibri"/>
              <a:cs typeface="Calibri"/>
              <a:sym typeface="Calibri"/>
            </a:endParaRPr>
          </a:p>
        </p:txBody>
      </p:sp>
      <p:sp>
        <p:nvSpPr>
          <p:cNvPr id="63" name="Google Shape;63;p3"/>
          <p:cNvSpPr txBox="1"/>
          <p:nvPr/>
        </p:nvSpPr>
        <p:spPr>
          <a:xfrm>
            <a:off x="822960" y="2257051"/>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0" i="0" lang="en-US" sz="1100" u="none" cap="none" strike="noStrike">
                <a:solidFill>
                  <a:srgbClr val="D9D9D9"/>
                </a:solidFill>
                <a:latin typeface="Work Sans"/>
                <a:ea typeface="Work Sans"/>
                <a:cs typeface="Work Sans"/>
                <a:sym typeface="Work Sans"/>
              </a:rPr>
              <a:t>rows  ×  22 columns</a:t>
            </a:r>
            <a:endParaRPr b="0" i="0" sz="1100" u="none" cap="none" strike="noStrike">
              <a:solidFill>
                <a:schemeClr val="dk1"/>
              </a:solidFill>
              <a:latin typeface="Calibri"/>
              <a:ea typeface="Calibri"/>
              <a:cs typeface="Calibri"/>
              <a:sym typeface="Calibri"/>
            </a:endParaRPr>
          </a:p>
        </p:txBody>
      </p:sp>
      <p:sp>
        <p:nvSpPr>
          <p:cNvPr id="64" name="Google Shape;64;p3"/>
          <p:cNvSpPr/>
          <p:nvPr/>
        </p:nvSpPr>
        <p:spPr>
          <a:xfrm>
            <a:off x="5486400" y="1253601"/>
            <a:ext cx="2834700" cy="1417200"/>
          </a:xfrm>
          <a:prstGeom prst="roundRect">
            <a:avLst>
              <a:gd fmla="val 5806"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5486400" y="1415803"/>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6C9"/>
              </a:buClr>
              <a:buSzPts val="1300"/>
              <a:buFont typeface="Bebas Neue"/>
              <a:buNone/>
            </a:pPr>
            <a:r>
              <a:rPr b="0" i="0" lang="en-US" sz="1300" u="none" cap="none" strike="noStrike">
                <a:solidFill>
                  <a:srgbClr val="FFD6C9"/>
                </a:solidFill>
                <a:latin typeface="Bebas Neue"/>
                <a:ea typeface="Bebas Neue"/>
                <a:cs typeface="Bebas Neue"/>
                <a:sym typeface="Bebas Neue"/>
              </a:rPr>
              <a:t>FINAL DATASET</a:t>
            </a:r>
            <a:endParaRPr b="0" i="0" sz="1300" u="none" cap="none" strike="noStrike">
              <a:solidFill>
                <a:schemeClr val="dk1"/>
              </a:solidFill>
              <a:latin typeface="Calibri"/>
              <a:ea typeface="Calibri"/>
              <a:cs typeface="Calibri"/>
              <a:sym typeface="Calibri"/>
            </a:endParaRPr>
          </a:p>
        </p:txBody>
      </p:sp>
      <p:sp>
        <p:nvSpPr>
          <p:cNvPr id="66" name="Google Shape;66;p3"/>
          <p:cNvSpPr txBox="1"/>
          <p:nvPr/>
        </p:nvSpPr>
        <p:spPr>
          <a:xfrm>
            <a:off x="5486400" y="1671835"/>
            <a:ext cx="28347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Bebas Neue"/>
              <a:buNone/>
            </a:pPr>
            <a:r>
              <a:rPr b="1" i="0" lang="en-US" sz="4000" u="none" cap="none" strike="noStrike">
                <a:solidFill>
                  <a:srgbClr val="FFFFFF"/>
                </a:solidFill>
                <a:latin typeface="Bebas Neue"/>
                <a:ea typeface="Bebas Neue"/>
                <a:cs typeface="Bebas Neue"/>
                <a:sym typeface="Bebas Neue"/>
              </a:rPr>
              <a:t>8,934</a:t>
            </a:r>
            <a:endParaRPr b="0" i="0" sz="4000" u="none" cap="none" strike="noStrike">
              <a:solidFill>
                <a:schemeClr val="dk1"/>
              </a:solidFill>
              <a:latin typeface="Calibri"/>
              <a:ea typeface="Calibri"/>
              <a:cs typeface="Calibri"/>
              <a:sym typeface="Calibri"/>
            </a:endParaRPr>
          </a:p>
        </p:txBody>
      </p:sp>
      <p:sp>
        <p:nvSpPr>
          <p:cNvPr id="67" name="Google Shape;67;p3"/>
          <p:cNvSpPr txBox="1"/>
          <p:nvPr/>
        </p:nvSpPr>
        <p:spPr>
          <a:xfrm>
            <a:off x="5486400" y="2257051"/>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0" i="0" lang="en-US" sz="1100" u="none" cap="none" strike="noStrike">
                <a:solidFill>
                  <a:srgbClr val="D9D9D9"/>
                </a:solidFill>
                <a:latin typeface="Work Sans"/>
                <a:ea typeface="Work Sans"/>
                <a:cs typeface="Work Sans"/>
                <a:sym typeface="Work Sans"/>
              </a:rPr>
              <a:t>rows  ×  10 main columns</a:t>
            </a:r>
            <a:endParaRPr b="0" i="0" sz="1100" u="none" cap="none" strike="noStrike">
              <a:solidFill>
                <a:schemeClr val="dk1"/>
              </a:solidFill>
              <a:latin typeface="Calibri"/>
              <a:ea typeface="Calibri"/>
              <a:cs typeface="Calibri"/>
              <a:sym typeface="Calibri"/>
            </a:endParaRPr>
          </a:p>
        </p:txBody>
      </p:sp>
      <p:sp>
        <p:nvSpPr>
          <p:cNvPr id="68" name="Google Shape;68;p3"/>
          <p:cNvSpPr/>
          <p:nvPr/>
        </p:nvSpPr>
        <p:spPr>
          <a:xfrm>
            <a:off x="3878274" y="1813542"/>
            <a:ext cx="1387500" cy="41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txBox="1"/>
          <p:nvPr/>
        </p:nvSpPr>
        <p:spPr>
          <a:xfrm>
            <a:off x="3360450" y="1502510"/>
            <a:ext cx="24231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100"/>
              <a:buFont typeface="Bebas Neue"/>
              <a:buNone/>
            </a:pPr>
            <a:r>
              <a:rPr b="0" i="0" lang="en-US" sz="1100" u="none" cap="none" strike="noStrike">
                <a:solidFill>
                  <a:srgbClr val="B7B7B7"/>
                </a:solidFill>
                <a:latin typeface="Bebas Neue"/>
                <a:ea typeface="Bebas Neue"/>
                <a:cs typeface="Bebas Neue"/>
                <a:sym typeface="Bebas Neue"/>
              </a:rPr>
              <a:t>FILTER · CATEGORIZE · CLUSTER</a:t>
            </a:r>
            <a:endParaRPr b="0" i="0" sz="1100" u="none" cap="none" strike="noStrike">
              <a:solidFill>
                <a:schemeClr val="dk1"/>
              </a:solidFill>
              <a:latin typeface="Calibri"/>
              <a:ea typeface="Calibri"/>
              <a:cs typeface="Calibri"/>
              <a:sym typeface="Calibri"/>
            </a:endParaRPr>
          </a:p>
        </p:txBody>
      </p:sp>
      <p:sp>
        <p:nvSpPr>
          <p:cNvPr id="70" name="Google Shape;70;p3"/>
          <p:cNvSpPr/>
          <p:nvPr/>
        </p:nvSpPr>
        <p:spPr>
          <a:xfrm>
            <a:off x="668991" y="303358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668991" y="302443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2" name="Google Shape;72;p3"/>
          <p:cNvSpPr txBox="1"/>
          <p:nvPr/>
        </p:nvSpPr>
        <p:spPr>
          <a:xfrm>
            <a:off x="1207551"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FILTER BY POPULARITY</a:t>
            </a:r>
            <a:endParaRPr b="1" i="0" sz="1150" u="none" cap="none" strike="noStrike">
              <a:solidFill>
                <a:schemeClr val="dk1"/>
              </a:solidFill>
              <a:latin typeface="Work Sans"/>
              <a:ea typeface="Work Sans"/>
              <a:cs typeface="Work Sans"/>
              <a:sym typeface="Work Sans"/>
            </a:endParaRPr>
          </a:p>
        </p:txBody>
      </p:sp>
      <p:sp>
        <p:nvSpPr>
          <p:cNvPr id="73" name="Google Shape;73;p3"/>
          <p:cNvSpPr txBox="1"/>
          <p:nvPr/>
        </p:nvSpPr>
        <p:spPr>
          <a:xfrm>
            <a:off x="1207551" y="3280471"/>
            <a:ext cx="19110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Kept only movies with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audience_count</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&gt; 3,500 reviews</a:t>
            </a:r>
            <a:endParaRPr b="0" i="0" sz="1000" u="none" cap="none" strike="noStrike">
              <a:solidFill>
                <a:schemeClr val="dk1"/>
              </a:solidFill>
              <a:latin typeface="Calibri"/>
              <a:ea typeface="Calibri"/>
              <a:cs typeface="Calibri"/>
              <a:sym typeface="Calibri"/>
            </a:endParaRPr>
          </a:p>
        </p:txBody>
      </p:sp>
      <p:sp>
        <p:nvSpPr>
          <p:cNvPr id="74" name="Google Shape;74;p3"/>
          <p:cNvSpPr txBox="1"/>
          <p:nvPr/>
        </p:nvSpPr>
        <p:spPr>
          <a:xfrm>
            <a:off x="3885808"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CATEGORIZE &amp; CLUSTER</a:t>
            </a:r>
            <a:endParaRPr b="1" i="0" sz="1150" u="none" cap="none" strike="noStrike">
              <a:solidFill>
                <a:schemeClr val="dk1"/>
              </a:solidFill>
              <a:latin typeface="Work Sans"/>
              <a:ea typeface="Work Sans"/>
              <a:cs typeface="Work Sans"/>
              <a:sym typeface="Work Sans"/>
            </a:endParaRPr>
          </a:p>
        </p:txBody>
      </p:sp>
      <p:sp>
        <p:nvSpPr>
          <p:cNvPr id="75" name="Google Shape;75;p3"/>
          <p:cNvSpPr txBox="1"/>
          <p:nvPr/>
        </p:nvSpPr>
        <p:spPr>
          <a:xfrm>
            <a:off x="3885825" y="3280480"/>
            <a:ext cx="2015100" cy="158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lang="en-US" sz="1000">
                <a:solidFill>
                  <a:srgbClr val="D9D9D9"/>
                </a:solidFill>
                <a:latin typeface="Work Sans"/>
                <a:ea typeface="Work Sans"/>
                <a:cs typeface="Work Sans"/>
                <a:sym typeface="Work Sans"/>
              </a:rPr>
              <a:t>- AI-assisted grouping of columns with too many unique values into manageable categories</a:t>
            </a:r>
            <a:r>
              <a:rPr b="0" i="0" lang="en-US" sz="1000" u="none" cap="none" strike="noStrike">
                <a:solidFill>
                  <a:srgbClr val="D9D9D9"/>
                </a:solidFill>
                <a:latin typeface="Work Sans"/>
                <a:ea typeface="Work Sans"/>
                <a:cs typeface="Work Sans"/>
                <a:sym typeface="Work Sans"/>
              </a:rPr>
              <a:t>;</a:t>
            </a:r>
            <a:endParaRPr b="0" i="0" sz="1000" u="none" cap="none" strike="noStrike">
              <a:solidFill>
                <a:srgbClr val="D9D9D9"/>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t/>
            </a:r>
            <a:endParaRPr sz="300">
              <a:solidFill>
                <a:srgbClr val="D9D9D9"/>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 - K-Means clustered </a:t>
            </a:r>
            <a:r>
              <a:rPr lang="en-US" sz="1000">
                <a:solidFill>
                  <a:srgbClr val="D9D9D9"/>
                </a:solidFill>
                <a:latin typeface="Work Sans"/>
                <a:ea typeface="Work Sans"/>
                <a:cs typeface="Work Sans"/>
                <a:sym typeface="Work Sans"/>
              </a:rPr>
              <a:t>columns</a:t>
            </a:r>
            <a:r>
              <a:rPr b="0" i="0" lang="en-US" sz="1000" u="none" cap="none" strike="noStrike">
                <a:solidFill>
                  <a:srgbClr val="D9D9D9"/>
                </a:solidFill>
                <a:latin typeface="Work Sans"/>
                <a:ea typeface="Work Sans"/>
                <a:cs typeface="Work Sans"/>
                <a:sym typeface="Work Sans"/>
              </a:rPr>
              <a:t> by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audience_rating</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a:t>
            </a:r>
            <a:r>
              <a:rPr lang="en-US" sz="1000">
                <a:solidFill>
                  <a:srgbClr val="D9D9D9"/>
                </a:solidFill>
                <a:latin typeface="Work Sans"/>
                <a:ea typeface="Work Sans"/>
                <a:cs typeface="Work Sans"/>
                <a:sym typeface="Work Sans"/>
              </a:rPr>
              <a:t>“audience_</a:t>
            </a:r>
            <a:r>
              <a:rPr b="0" i="0" lang="en-US" sz="1000" u="none" cap="none" strike="noStrike">
                <a:solidFill>
                  <a:srgbClr val="D9D9D9"/>
                </a:solidFill>
                <a:latin typeface="Work Sans"/>
                <a:ea typeface="Work Sans"/>
                <a:cs typeface="Work Sans"/>
                <a:sym typeface="Work Sans"/>
              </a:rPr>
              <a:t>count</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and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movie_count</a:t>
            </a:r>
            <a:r>
              <a:rPr lang="en-US" sz="1000">
                <a:solidFill>
                  <a:srgbClr val="D9D9D9"/>
                </a:solidFill>
                <a:latin typeface="Work Sans"/>
                <a:ea typeface="Work Sans"/>
                <a:cs typeface="Work Sans"/>
                <a:sym typeface="Work Sans"/>
              </a:rPr>
              <a:t>”</a:t>
            </a:r>
            <a:endParaRPr b="0" i="0" sz="1000" u="none" cap="none" strike="noStrike">
              <a:solidFill>
                <a:schemeClr val="dk1"/>
              </a:solidFill>
              <a:latin typeface="Calibri"/>
              <a:ea typeface="Calibri"/>
              <a:cs typeface="Calibri"/>
              <a:sym typeface="Calibri"/>
            </a:endParaRPr>
          </a:p>
        </p:txBody>
      </p:sp>
      <p:sp>
        <p:nvSpPr>
          <p:cNvPr id="76" name="Google Shape;76;p3"/>
          <p:cNvSpPr/>
          <p:nvPr/>
        </p:nvSpPr>
        <p:spPr>
          <a:xfrm>
            <a:off x="6025504" y="303358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6025504" y="302443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8" name="Google Shape;78;p3"/>
          <p:cNvSpPr txBox="1"/>
          <p:nvPr/>
        </p:nvSpPr>
        <p:spPr>
          <a:xfrm>
            <a:off x="6564065"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BINARY TARGET</a:t>
            </a:r>
            <a:endParaRPr b="1" i="0" sz="1150" u="none" cap="none" strike="noStrike">
              <a:solidFill>
                <a:schemeClr val="dk1"/>
              </a:solidFill>
              <a:latin typeface="Work Sans"/>
              <a:ea typeface="Work Sans"/>
              <a:cs typeface="Work Sans"/>
              <a:sym typeface="Work Sans"/>
            </a:endParaRPr>
          </a:p>
        </p:txBody>
      </p:sp>
      <p:sp>
        <p:nvSpPr>
          <p:cNvPr id="79" name="Google Shape;79;p3"/>
          <p:cNvSpPr txBox="1"/>
          <p:nvPr/>
        </p:nvSpPr>
        <p:spPr>
          <a:xfrm>
            <a:off x="6564065" y="3280471"/>
            <a:ext cx="19110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b="1" i="1" lang="en-US" sz="1000">
                <a:solidFill>
                  <a:schemeClr val="lt1"/>
                </a:solidFill>
                <a:latin typeface="Work Sans"/>
                <a:ea typeface="Work Sans"/>
                <a:cs typeface="Work Sans"/>
                <a:sym typeface="Work Sans"/>
              </a:rPr>
              <a:t>“</a:t>
            </a:r>
            <a:r>
              <a:rPr b="1" i="1" lang="en-US" sz="1000" u="none" cap="none" strike="noStrike">
                <a:solidFill>
                  <a:schemeClr val="lt1"/>
                </a:solidFill>
                <a:latin typeface="Work Sans"/>
                <a:ea typeface="Work Sans"/>
                <a:cs typeface="Work Sans"/>
                <a:sym typeface="Work Sans"/>
              </a:rPr>
              <a:t>tomatometer_status</a:t>
            </a:r>
            <a:r>
              <a:rPr b="1" i="1" lang="en-US" sz="1000">
                <a:solidFill>
                  <a:schemeClr val="lt1"/>
                </a:solidFill>
                <a:latin typeface="Work Sans"/>
                <a:ea typeface="Work Sans"/>
                <a:cs typeface="Work Sans"/>
                <a:sym typeface="Work Sans"/>
              </a:rPr>
              <a:t>”</a:t>
            </a:r>
            <a:endParaRPr b="1" i="1" sz="1000">
              <a:solidFill>
                <a:schemeClr val="lt1"/>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Fresh (≥60% positive) vs. Rotten (&lt;60%).</a:t>
            </a:r>
            <a:endParaRPr b="0" i="0" sz="1000" u="none" cap="none" strike="noStrike">
              <a:solidFill>
                <a:schemeClr val="dk1"/>
              </a:solidFill>
              <a:latin typeface="Calibri"/>
              <a:ea typeface="Calibri"/>
              <a:cs typeface="Calibri"/>
              <a:sym typeface="Calibri"/>
            </a:endParaRPr>
          </a:p>
        </p:txBody>
      </p:sp>
      <p:sp>
        <p:nvSpPr>
          <p:cNvPr id="80" name="Google Shape;80;p3"/>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2</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DATA PREPARATION</a:t>
            </a:r>
            <a:endParaRPr b="1" i="0" sz="1100" u="none" cap="none" strike="noStrike">
              <a:solidFill>
                <a:srgbClr val="BF9000"/>
              </a:solidFill>
              <a:latin typeface="Work Sans"/>
              <a:ea typeface="Work Sans"/>
              <a:cs typeface="Work Sans"/>
              <a:sym typeface="Work Sans"/>
            </a:endParaRPr>
          </a:p>
        </p:txBody>
      </p:sp>
      <p:sp>
        <p:nvSpPr>
          <p:cNvPr id="81" name="Google Shape;81;p3"/>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DATA SELECTION &amp; PREPARATION</a:t>
            </a:r>
            <a:endParaRPr b="0" i="0" sz="2900" u="none" cap="none" strike="noStrike">
              <a:solidFill>
                <a:schemeClr val="dk1"/>
              </a:solidFill>
              <a:latin typeface="Calibri"/>
              <a:ea typeface="Calibri"/>
              <a:cs typeface="Calibri"/>
              <a:sym typeface="Calibri"/>
            </a:endParaRPr>
          </a:p>
        </p:txBody>
      </p:sp>
      <p:sp>
        <p:nvSpPr>
          <p:cNvPr id="82" name="Google Shape;82;p3"/>
          <p:cNvSpPr/>
          <p:nvPr/>
        </p:nvSpPr>
        <p:spPr>
          <a:xfrm>
            <a:off x="3358614" y="3086274"/>
            <a:ext cx="444000" cy="444000"/>
          </a:xfrm>
          <a:prstGeom prst="ellipse">
            <a:avLst/>
          </a:prstGeom>
          <a:solidFill>
            <a:srgbClr val="6B6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3"/>
          <p:cNvSpPr txBox="1"/>
          <p:nvPr/>
        </p:nvSpPr>
        <p:spPr>
          <a:xfrm>
            <a:off x="3372400" y="3084093"/>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4" name="Google Shape;84;p3"/>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89" name="Shape 89"/>
        <p:cNvGrpSpPr/>
        <p:nvPr/>
      </p:nvGrpSpPr>
      <p:grpSpPr>
        <a:xfrm>
          <a:off x="0" y="0"/>
          <a:ext cx="0" cy="0"/>
          <a:chOff x="0" y="0"/>
          <a:chExt cx="0" cy="0"/>
        </a:xfrm>
      </p:grpSpPr>
      <p:sp>
        <p:nvSpPr>
          <p:cNvPr id="90" name="Google Shape;90;p4"/>
          <p:cNvSpPr/>
          <p:nvPr/>
        </p:nvSpPr>
        <p:spPr>
          <a:xfrm>
            <a:off x="502925" y="1769332"/>
            <a:ext cx="3794700" cy="2870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846325" y="1769507"/>
            <a:ext cx="3794700" cy="2870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txBox="1"/>
          <p:nvPr/>
        </p:nvSpPr>
        <p:spPr>
          <a:xfrm>
            <a:off x="777240" y="1418345"/>
            <a:ext cx="3246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3206"/>
              </a:buClr>
              <a:buSzPts val="1400"/>
              <a:buFont typeface="Bebas Neue"/>
              <a:buNone/>
            </a:pPr>
            <a:r>
              <a:rPr b="1" i="0" lang="en-US" sz="1500" u="none" cap="none" strike="noStrike">
                <a:solidFill>
                  <a:srgbClr val="F83206"/>
                </a:solidFill>
                <a:latin typeface="Work Sans"/>
                <a:ea typeface="Work Sans"/>
                <a:cs typeface="Work Sans"/>
                <a:sym typeface="Work Sans"/>
              </a:rPr>
              <a:t>ENGINEERING PROCESS</a:t>
            </a:r>
            <a:endParaRPr b="1" i="0" sz="1500" u="none" cap="none" strike="noStrike">
              <a:solidFill>
                <a:schemeClr val="dk1"/>
              </a:solidFill>
              <a:latin typeface="Work Sans"/>
              <a:ea typeface="Work Sans"/>
              <a:cs typeface="Work Sans"/>
              <a:sym typeface="Work Sans"/>
            </a:endParaRPr>
          </a:p>
        </p:txBody>
      </p:sp>
      <p:sp>
        <p:nvSpPr>
          <p:cNvPr id="93" name="Google Shape;93;p4"/>
          <p:cNvSpPr txBox="1"/>
          <p:nvPr/>
        </p:nvSpPr>
        <p:spPr>
          <a:xfrm>
            <a:off x="777240" y="2066128"/>
            <a:ext cx="3246000" cy="22860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Train/Test split with stratification to preserve class balance before any transformation.</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One-Hot Encoding for categorical variables, with consistent dummy columns across train/test.</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MinMaxScaler normalization for numerical features (e.g. runtime).</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Reindexed test set to match training columns, preventing feature mismatch.</a:t>
            </a:r>
            <a:endParaRPr b="0" i="0" sz="1100" u="none" cap="none" strike="noStrike">
              <a:solidFill>
                <a:schemeClr val="dk1"/>
              </a:solidFill>
              <a:latin typeface="Calibri"/>
              <a:ea typeface="Calibri"/>
              <a:cs typeface="Calibri"/>
              <a:sym typeface="Calibri"/>
            </a:endParaRPr>
          </a:p>
        </p:txBody>
      </p:sp>
      <p:sp>
        <p:nvSpPr>
          <p:cNvPr id="94" name="Google Shape;94;p4"/>
          <p:cNvSpPr txBox="1"/>
          <p:nvPr/>
        </p:nvSpPr>
        <p:spPr>
          <a:xfrm>
            <a:off x="5120640" y="1418345"/>
            <a:ext cx="3246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AC4F"/>
              </a:buClr>
              <a:buSzPts val="1400"/>
              <a:buFont typeface="Bebas Neue"/>
              <a:buNone/>
            </a:pPr>
            <a:r>
              <a:rPr b="1" i="0" lang="en-US" sz="1500" u="none" cap="none" strike="noStrike">
                <a:solidFill>
                  <a:srgbClr val="3FAC4F"/>
                </a:solidFill>
                <a:latin typeface="Work Sans"/>
                <a:ea typeface="Work Sans"/>
                <a:cs typeface="Work Sans"/>
                <a:sym typeface="Work Sans"/>
              </a:rPr>
              <a:t>SELECTION APPROACH</a:t>
            </a:r>
            <a:endParaRPr b="1" i="0" sz="1500" u="none" cap="none" strike="noStrike">
              <a:solidFill>
                <a:schemeClr val="dk1"/>
              </a:solidFill>
              <a:latin typeface="Work Sans"/>
              <a:ea typeface="Work Sans"/>
              <a:cs typeface="Work Sans"/>
              <a:sym typeface="Work Sans"/>
            </a:endParaRPr>
          </a:p>
        </p:txBody>
      </p:sp>
      <p:sp>
        <p:nvSpPr>
          <p:cNvPr id="95" name="Google Shape;95;p4"/>
          <p:cNvSpPr txBox="1"/>
          <p:nvPr/>
        </p:nvSpPr>
        <p:spPr>
          <a:xfrm>
            <a:off x="5120640" y="2066128"/>
            <a:ext cx="3246000" cy="22860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Removed non-predictive / leakage-prone columns (e.g. movie_title).</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lang="en-US" sz="1100">
                <a:solidFill>
                  <a:srgbClr val="D9D9D9"/>
                </a:solidFill>
                <a:latin typeface="Work Sans"/>
                <a:ea typeface="Work Sans"/>
                <a:cs typeface="Work Sans"/>
                <a:sym typeface="Work Sans"/>
              </a:rPr>
              <a:t>Selected features based on domain relevance: release date, runtime, content_group, main genre, and the director / author / actor / production_company clusters </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Ensured all engineered features aligned with the model's expected input structure.</a:t>
            </a:r>
            <a:endParaRPr b="0" i="0" sz="1100" u="none" cap="none" strike="noStrike">
              <a:solidFill>
                <a:schemeClr val="dk1"/>
              </a:solidFill>
              <a:latin typeface="Calibri"/>
              <a:ea typeface="Calibri"/>
              <a:cs typeface="Calibri"/>
              <a:sym typeface="Calibri"/>
            </a:endParaRPr>
          </a:p>
        </p:txBody>
      </p:sp>
      <p:sp>
        <p:nvSpPr>
          <p:cNvPr id="96" name="Google Shape;96;p4"/>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3</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FEATURE ENGINEERING</a:t>
            </a:r>
            <a:endParaRPr b="1" i="0" sz="1100" u="none" cap="none" strike="noStrike">
              <a:solidFill>
                <a:srgbClr val="BF9000"/>
              </a:solidFill>
              <a:latin typeface="Work Sans"/>
              <a:ea typeface="Work Sans"/>
              <a:cs typeface="Work Sans"/>
              <a:sym typeface="Work Sans"/>
            </a:endParaRPr>
          </a:p>
        </p:txBody>
      </p:sp>
      <p:sp>
        <p:nvSpPr>
          <p:cNvPr id="97" name="Google Shape;97;p4"/>
          <p:cNvSpPr txBox="1"/>
          <p:nvPr/>
        </p:nvSpPr>
        <p:spPr>
          <a:xfrm>
            <a:off x="502920" y="476527"/>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FEATURE ENGINEERING &amp; </a:t>
            </a:r>
            <a:r>
              <a:rPr b="1" lang="en-US" sz="2900">
                <a:solidFill>
                  <a:srgbClr val="FFFFFF"/>
                </a:solidFill>
                <a:latin typeface="Bebas Neue"/>
                <a:ea typeface="Bebas Neue"/>
                <a:cs typeface="Bebas Neue"/>
                <a:sym typeface="Bebas Neue"/>
              </a:rPr>
              <a:t>SELECTION</a:t>
            </a:r>
            <a:endParaRPr b="0" i="0" sz="2900" u="none" cap="none" strike="noStrike">
              <a:solidFill>
                <a:schemeClr val="dk1"/>
              </a:solidFill>
              <a:latin typeface="Calibri"/>
              <a:ea typeface="Calibri"/>
              <a:cs typeface="Calibri"/>
              <a:sym typeface="Calibri"/>
            </a:endParaRPr>
          </a:p>
        </p:txBody>
      </p:sp>
      <p:sp>
        <p:nvSpPr>
          <p:cNvPr id="98" name="Google Shape;98;p4"/>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03" name="Shape 103"/>
        <p:cNvGrpSpPr/>
        <p:nvPr/>
      </p:nvGrpSpPr>
      <p:grpSpPr>
        <a:xfrm>
          <a:off x="0" y="0"/>
          <a:ext cx="0" cy="0"/>
          <a:chOff x="0" y="0"/>
          <a:chExt cx="0" cy="0"/>
        </a:xfrm>
      </p:grpSpPr>
      <p:sp>
        <p:nvSpPr>
          <p:cNvPr id="104" name="Google Shape;104;p5"/>
          <p:cNvSpPr txBox="1"/>
          <p:nvPr/>
        </p:nvSpPr>
        <p:spPr>
          <a:xfrm>
            <a:off x="502943" y="1040723"/>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250"/>
              <a:buFont typeface="Work Sans"/>
              <a:buNone/>
            </a:pPr>
            <a:r>
              <a:rPr b="0" i="0" lang="en-US" sz="1150" u="none" cap="none" strike="noStrike">
                <a:solidFill>
                  <a:srgbClr val="D9D9D9"/>
                </a:solidFill>
                <a:latin typeface="Work Sans"/>
                <a:ea typeface="Work Sans"/>
                <a:cs typeface="Work Sans"/>
                <a:sym typeface="Work Sans"/>
              </a:rPr>
              <a:t>A Decision Tree Classifier was used to validate which features best separate Fresh from Rotten movies.</a:t>
            </a:r>
            <a:endParaRPr b="0" i="0" sz="1150" u="none" cap="none" strike="noStrike">
              <a:solidFill>
                <a:schemeClr val="dk1"/>
              </a:solidFill>
              <a:latin typeface="Calibri"/>
              <a:ea typeface="Calibri"/>
              <a:cs typeface="Calibri"/>
              <a:sym typeface="Calibri"/>
            </a:endParaRPr>
          </a:p>
        </p:txBody>
      </p:sp>
      <p:pic>
        <p:nvPicPr>
          <p:cNvPr descr="/tmp/claude-0/-home-user-ML-Rotten-Tomato-Project/a57ab96b-d0eb-50cc-9cc4-88de4a48a829/scratchpad/work/assets/decision_tree.png" id="105" name="Google Shape;105;p5"/>
          <p:cNvPicPr preferRelativeResize="0"/>
          <p:nvPr/>
        </p:nvPicPr>
        <p:blipFill rotWithShape="1">
          <a:blip r:embed="rId3">
            <a:alphaModFix/>
          </a:blip>
          <a:srcRect b="0" l="0" r="0" t="0"/>
          <a:stretch/>
        </p:blipFill>
        <p:spPr>
          <a:xfrm>
            <a:off x="1536238" y="1648189"/>
            <a:ext cx="6071485" cy="1847100"/>
          </a:xfrm>
          <a:prstGeom prst="rect">
            <a:avLst/>
          </a:prstGeom>
          <a:noFill/>
          <a:ln>
            <a:noFill/>
          </a:ln>
        </p:spPr>
      </p:pic>
      <p:sp>
        <p:nvSpPr>
          <p:cNvPr id="106" name="Google Shape;106;p5"/>
          <p:cNvSpPr/>
          <p:nvPr/>
        </p:nvSpPr>
        <p:spPr>
          <a:xfrm>
            <a:off x="828796" y="4005167"/>
            <a:ext cx="310800" cy="3108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txBox="1"/>
          <p:nvPr/>
        </p:nvSpPr>
        <p:spPr>
          <a:xfrm>
            <a:off x="828796" y="3996023"/>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8" name="Google Shape;108;p5"/>
          <p:cNvSpPr txBox="1"/>
          <p:nvPr/>
        </p:nvSpPr>
        <p:spPr>
          <a:xfrm>
            <a:off x="1231126" y="3959450"/>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930" u="none" cap="none" strike="noStrike">
                <a:solidFill>
                  <a:srgbClr val="D9D9D9"/>
                </a:solidFill>
                <a:latin typeface="Work Sans"/>
                <a:ea typeface="Work Sans"/>
                <a:cs typeface="Work Sans"/>
                <a:sym typeface="Work Sans"/>
              </a:rPr>
              <a:t>Root split (directors_cluster) confirms clustering features are the strongest early predictors.</a:t>
            </a:r>
            <a:endParaRPr b="0" i="0" sz="930" u="none" cap="none" strike="noStrike">
              <a:solidFill>
                <a:schemeClr val="dk1"/>
              </a:solidFill>
              <a:latin typeface="Calibri"/>
              <a:ea typeface="Calibri"/>
              <a:cs typeface="Calibri"/>
              <a:sym typeface="Calibri"/>
            </a:endParaRPr>
          </a:p>
        </p:txBody>
      </p:sp>
      <p:sp>
        <p:nvSpPr>
          <p:cNvPr id="109" name="Google Shape;109;p5"/>
          <p:cNvSpPr/>
          <p:nvPr/>
        </p:nvSpPr>
        <p:spPr>
          <a:xfrm>
            <a:off x="3397845" y="4005167"/>
            <a:ext cx="310800" cy="3108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txBox="1"/>
          <p:nvPr/>
        </p:nvSpPr>
        <p:spPr>
          <a:xfrm>
            <a:off x="3397845" y="3996023"/>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11" name="Google Shape;111;p5"/>
          <p:cNvSpPr txBox="1"/>
          <p:nvPr/>
        </p:nvSpPr>
        <p:spPr>
          <a:xfrm>
            <a:off x="3818751" y="3959450"/>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930" u="none" cap="none" strike="noStrike">
                <a:solidFill>
                  <a:srgbClr val="D9D9D9"/>
                </a:solidFill>
                <a:latin typeface="Work Sans"/>
                <a:ea typeface="Work Sans"/>
                <a:cs typeface="Work Sans"/>
                <a:sym typeface="Work Sans"/>
              </a:rPr>
              <a:t>authors_cluster, actors_cluster and content_group follow — reinforcing the feature engineering choices.</a:t>
            </a:r>
            <a:endParaRPr b="0" i="0" sz="930" u="none" cap="none" strike="noStrike">
              <a:solidFill>
                <a:schemeClr val="dk1"/>
              </a:solidFill>
              <a:latin typeface="Calibri"/>
              <a:ea typeface="Calibri"/>
              <a:cs typeface="Calibri"/>
              <a:sym typeface="Calibri"/>
            </a:endParaRPr>
          </a:p>
        </p:txBody>
      </p:sp>
      <p:sp>
        <p:nvSpPr>
          <p:cNvPr id="112" name="Google Shape;112;p5"/>
          <p:cNvSpPr/>
          <p:nvPr/>
        </p:nvSpPr>
        <p:spPr>
          <a:xfrm>
            <a:off x="5953904" y="4005167"/>
            <a:ext cx="310800" cy="3108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txBox="1"/>
          <p:nvPr/>
        </p:nvSpPr>
        <p:spPr>
          <a:xfrm>
            <a:off x="5953904" y="3996023"/>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14" name="Google Shape;114;p5"/>
          <p:cNvSpPr txBox="1"/>
          <p:nvPr/>
        </p:nvSpPr>
        <p:spPr>
          <a:xfrm>
            <a:off x="6354425" y="3959450"/>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930" u="none" cap="none" strike="noStrike">
                <a:solidFill>
                  <a:srgbClr val="D9D9D9"/>
                </a:solidFill>
                <a:latin typeface="Work Sans"/>
                <a:ea typeface="Work Sans"/>
                <a:cs typeface="Work Sans"/>
                <a:sym typeface="Work Sans"/>
              </a:rPr>
              <a:t>Genre and runtime refine predictions within subgroups, but carry less weight than clustering.</a:t>
            </a:r>
            <a:endParaRPr b="0" i="0" sz="930" u="none" cap="none" strike="noStrike">
              <a:solidFill>
                <a:schemeClr val="dk1"/>
              </a:solidFill>
              <a:latin typeface="Calibri"/>
              <a:ea typeface="Calibri"/>
              <a:cs typeface="Calibri"/>
              <a:sym typeface="Calibri"/>
            </a:endParaRPr>
          </a:p>
        </p:txBody>
      </p:sp>
      <p:sp>
        <p:nvSpPr>
          <p:cNvPr id="115" name="Google Shape;115;p5"/>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4</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FEATURE VALIDATION</a:t>
            </a:r>
            <a:endParaRPr b="1" i="0" sz="1100" u="none" cap="none" strike="noStrike">
              <a:solidFill>
                <a:srgbClr val="BF9000"/>
              </a:solidFill>
              <a:latin typeface="Work Sans"/>
              <a:ea typeface="Work Sans"/>
              <a:cs typeface="Work Sans"/>
              <a:sym typeface="Work Sans"/>
            </a:endParaRPr>
          </a:p>
        </p:txBody>
      </p:sp>
      <p:sp>
        <p:nvSpPr>
          <p:cNvPr id="116" name="Google Shape;116;p5"/>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decision tree - feature validation</a:t>
            </a:r>
            <a:endParaRPr b="0" i="0" sz="2900" u="none" cap="none" strike="noStrike">
              <a:solidFill>
                <a:schemeClr val="dk1"/>
              </a:solidFill>
              <a:latin typeface="Calibri"/>
              <a:ea typeface="Calibri"/>
              <a:cs typeface="Calibri"/>
              <a:sym typeface="Calibri"/>
            </a:endParaRPr>
          </a:p>
        </p:txBody>
      </p:sp>
      <p:sp>
        <p:nvSpPr>
          <p:cNvPr id="117" name="Google Shape;117;p5"/>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22" name="Shape 122"/>
        <p:cNvGrpSpPr/>
        <p:nvPr/>
      </p:nvGrpSpPr>
      <p:grpSpPr>
        <a:xfrm>
          <a:off x="0" y="0"/>
          <a:ext cx="0" cy="0"/>
          <a:chOff x="0" y="0"/>
          <a:chExt cx="0" cy="0"/>
        </a:xfrm>
      </p:grpSpPr>
      <p:sp>
        <p:nvSpPr>
          <p:cNvPr id="123" name="Google Shape;123;p6"/>
          <p:cNvSpPr txBox="1"/>
          <p:nvPr/>
        </p:nvSpPr>
        <p:spPr>
          <a:xfrm>
            <a:off x="502920" y="1078343"/>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150"/>
              <a:buFont typeface="Work Sans"/>
              <a:buNone/>
            </a:pPr>
            <a:r>
              <a:rPr b="0" i="0" lang="en-US" sz="1150" u="none" cap="none" strike="noStrike">
                <a:solidFill>
                  <a:srgbClr val="D9D9D9"/>
                </a:solidFill>
                <a:latin typeface="Work Sans"/>
                <a:ea typeface="Work Sans"/>
                <a:cs typeface="Work Sans"/>
                <a:sym typeface="Work Sans"/>
              </a:rPr>
              <a:t>We tested three models — Random Forest, XGBoost, and a manually tuned XGBoost — to compare performance and find the most effective approach.</a:t>
            </a:r>
            <a:endParaRPr b="0" i="0" sz="1150" u="none" cap="none" strike="noStrike">
              <a:solidFill>
                <a:schemeClr val="dk1"/>
              </a:solidFill>
              <a:latin typeface="Calibri"/>
              <a:ea typeface="Calibri"/>
              <a:cs typeface="Calibri"/>
              <a:sym typeface="Calibri"/>
            </a:endParaRPr>
          </a:p>
        </p:txBody>
      </p:sp>
      <p:graphicFrame>
        <p:nvGraphicFramePr>
          <p:cNvPr id="124" name="Google Shape;124;p6"/>
          <p:cNvGraphicFramePr/>
          <p:nvPr/>
        </p:nvGraphicFramePr>
        <p:xfrm>
          <a:off x="502920" y="1891603"/>
          <a:ext cx="3977700" cy="2834700"/>
        </p:xfrm>
        <a:graphic>
          <a:graphicData uri="http://schemas.openxmlformats.org/drawingml/2006/chart">
            <c:chart r:id="rId3"/>
          </a:graphicData>
        </a:graphic>
      </p:graphicFrame>
      <p:sp>
        <p:nvSpPr>
          <p:cNvPr id="125" name="Google Shape;125;p6"/>
          <p:cNvSpPr/>
          <p:nvPr/>
        </p:nvSpPr>
        <p:spPr>
          <a:xfrm>
            <a:off x="4663440" y="1752590"/>
            <a:ext cx="3977700" cy="841200"/>
          </a:xfrm>
          <a:prstGeom prst="roundRect">
            <a:avLst>
              <a:gd fmla="val 9783" name="adj"/>
            </a:avLst>
          </a:prstGeom>
          <a:solidFill>
            <a:srgbClr val="434343"/>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4846320" y="1990334"/>
            <a:ext cx="365700" cy="3657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4846320" y="198119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28" name="Google Shape;128;p6"/>
          <p:cNvSpPr txBox="1"/>
          <p:nvPr/>
        </p:nvSpPr>
        <p:spPr>
          <a:xfrm>
            <a:off x="5321808" y="18806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RANDOM FOREST</a:t>
            </a:r>
            <a:endParaRPr b="1" i="0" sz="1250" u="none" cap="none" strike="noStrike">
              <a:solidFill>
                <a:schemeClr val="dk1"/>
              </a:solidFill>
              <a:latin typeface="Work Sans"/>
              <a:ea typeface="Work Sans"/>
              <a:cs typeface="Work Sans"/>
              <a:sym typeface="Work Sans"/>
            </a:endParaRPr>
          </a:p>
        </p:txBody>
      </p:sp>
      <p:sp>
        <p:nvSpPr>
          <p:cNvPr id="129" name="Google Shape;129;p6"/>
          <p:cNvSpPr txBox="1"/>
          <p:nvPr/>
        </p:nvSpPr>
        <p:spPr>
          <a:xfrm>
            <a:off x="5321808" y="2136638"/>
            <a:ext cx="3154800" cy="429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b="0" i="0" lang="en-US" sz="970" u="none" cap="none" strike="noStrike">
                <a:solidFill>
                  <a:srgbClr val="D9D9D9"/>
                </a:solidFill>
                <a:latin typeface="Work Sans"/>
                <a:ea typeface="Work Sans"/>
                <a:cs typeface="Work Sans"/>
                <a:sym typeface="Work Sans"/>
              </a:rPr>
              <a:t>Train 83.75% → Test 73.65%. Clear overfitting; useful baseline only.</a:t>
            </a:r>
            <a:endParaRPr b="0" i="0" sz="970" u="none" cap="none" strike="noStrike">
              <a:solidFill>
                <a:schemeClr val="dk1"/>
              </a:solidFill>
              <a:latin typeface="Calibri"/>
              <a:ea typeface="Calibri"/>
              <a:cs typeface="Calibri"/>
              <a:sym typeface="Calibri"/>
            </a:endParaRPr>
          </a:p>
        </p:txBody>
      </p:sp>
      <p:sp>
        <p:nvSpPr>
          <p:cNvPr id="130" name="Google Shape;130;p6"/>
          <p:cNvSpPr/>
          <p:nvPr/>
        </p:nvSpPr>
        <p:spPr>
          <a:xfrm>
            <a:off x="4663440" y="2666990"/>
            <a:ext cx="3977700" cy="841200"/>
          </a:xfrm>
          <a:prstGeom prst="roundRect">
            <a:avLst>
              <a:gd fmla="val 9783" name="adj"/>
            </a:avLst>
          </a:prstGeom>
          <a:solidFill>
            <a:srgbClr val="434343"/>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4846320" y="2904734"/>
            <a:ext cx="365700" cy="3657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txBox="1"/>
          <p:nvPr/>
        </p:nvSpPr>
        <p:spPr>
          <a:xfrm>
            <a:off x="4846320" y="289559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3" name="Google Shape;133;p6"/>
          <p:cNvSpPr txBox="1"/>
          <p:nvPr/>
        </p:nvSpPr>
        <p:spPr>
          <a:xfrm>
            <a:off x="5321808" y="27950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XGBOOST — ORIGINAL</a:t>
            </a:r>
            <a:endParaRPr b="1" i="0" sz="1250" u="none" cap="none" strike="noStrike">
              <a:solidFill>
                <a:schemeClr val="dk1"/>
              </a:solidFill>
              <a:latin typeface="Work Sans"/>
              <a:ea typeface="Work Sans"/>
              <a:cs typeface="Work Sans"/>
              <a:sym typeface="Work Sans"/>
            </a:endParaRPr>
          </a:p>
        </p:txBody>
      </p:sp>
      <p:sp>
        <p:nvSpPr>
          <p:cNvPr id="134" name="Google Shape;134;p6"/>
          <p:cNvSpPr txBox="1"/>
          <p:nvPr/>
        </p:nvSpPr>
        <p:spPr>
          <a:xfrm>
            <a:off x="5321800" y="3051048"/>
            <a:ext cx="3154800" cy="33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lang="en-US" sz="970">
                <a:solidFill>
                  <a:srgbClr val="D9D9D9"/>
                </a:solidFill>
                <a:latin typeface="Work Sans"/>
                <a:ea typeface="Work Sans"/>
                <a:cs typeface="Work Sans"/>
                <a:sym typeface="Work Sans"/>
              </a:rPr>
              <a:t>RandomizedSearchCV + GridSearchCV </a:t>
            </a:r>
            <a:endParaRPr sz="970">
              <a:solidFill>
                <a:srgbClr val="D9D9D9"/>
              </a:solidFill>
              <a:latin typeface="Work Sans"/>
              <a:ea typeface="Work Sans"/>
              <a:cs typeface="Work Sans"/>
              <a:sym typeface="Work Sans"/>
            </a:endParaRPr>
          </a:p>
          <a:p>
            <a:pPr indent="0" lvl="0" marL="0" marR="0" rtl="0" algn="l">
              <a:lnSpc>
                <a:spcPct val="110000"/>
              </a:lnSpc>
              <a:spcBef>
                <a:spcPts val="0"/>
              </a:spcBef>
              <a:spcAft>
                <a:spcPts val="0"/>
              </a:spcAft>
              <a:buClr>
                <a:srgbClr val="D9D9D9"/>
              </a:buClr>
              <a:buSzPts val="970"/>
              <a:buFont typeface="Work Sans"/>
              <a:buNone/>
            </a:pPr>
            <a:r>
              <a:rPr lang="en-US" sz="970">
                <a:solidFill>
                  <a:srgbClr val="D9D9D9"/>
                </a:solidFill>
                <a:latin typeface="Work Sans"/>
                <a:ea typeface="Work Sans"/>
                <a:cs typeface="Work Sans"/>
                <a:sym typeface="Work Sans"/>
              </a:rPr>
              <a:t>Test 72.68%, train 80.04% — still overfitting</a:t>
            </a:r>
            <a:endParaRPr b="0" i="0" sz="970" u="none" cap="none" strike="noStrike">
              <a:solidFill>
                <a:schemeClr val="dk1"/>
              </a:solidFill>
              <a:latin typeface="Calibri"/>
              <a:ea typeface="Calibri"/>
              <a:cs typeface="Calibri"/>
              <a:sym typeface="Calibri"/>
            </a:endParaRPr>
          </a:p>
        </p:txBody>
      </p:sp>
      <p:sp>
        <p:nvSpPr>
          <p:cNvPr id="135" name="Google Shape;135;p6"/>
          <p:cNvSpPr/>
          <p:nvPr/>
        </p:nvSpPr>
        <p:spPr>
          <a:xfrm>
            <a:off x="4663440" y="3581390"/>
            <a:ext cx="3977700" cy="960000"/>
          </a:xfrm>
          <a:prstGeom prst="roundRect">
            <a:avLst>
              <a:gd fmla="val 8571"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4846320" y="3878570"/>
            <a:ext cx="365700" cy="3657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4846320" y="3869426"/>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8" name="Google Shape;138;p6"/>
          <p:cNvSpPr txBox="1"/>
          <p:nvPr/>
        </p:nvSpPr>
        <p:spPr>
          <a:xfrm>
            <a:off x="5321808" y="37094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XGBOOST — MANUALLY TUNED</a:t>
            </a:r>
            <a:endParaRPr b="1" i="0" sz="1250" u="none" cap="none" strike="noStrike">
              <a:solidFill>
                <a:schemeClr val="dk1"/>
              </a:solidFill>
              <a:latin typeface="Work Sans"/>
              <a:ea typeface="Work Sans"/>
              <a:cs typeface="Work Sans"/>
              <a:sym typeface="Work Sans"/>
            </a:endParaRPr>
          </a:p>
        </p:txBody>
      </p:sp>
      <p:sp>
        <p:nvSpPr>
          <p:cNvPr id="139" name="Google Shape;139;p6"/>
          <p:cNvSpPr txBox="1"/>
          <p:nvPr/>
        </p:nvSpPr>
        <p:spPr>
          <a:xfrm>
            <a:off x="5321808" y="3965438"/>
            <a:ext cx="3154800" cy="54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b="0" i="0" lang="en-US" sz="970" u="none" cap="none" strike="noStrike">
                <a:solidFill>
                  <a:srgbClr val="D9D9D9"/>
                </a:solidFill>
                <a:latin typeface="Work Sans"/>
                <a:ea typeface="Work Sans"/>
                <a:cs typeface="Work Sans"/>
                <a:sym typeface="Work Sans"/>
              </a:rPr>
              <a:t>Test 74.37%, balanced precision/recall, minimal overfitting. Most reliable model.</a:t>
            </a:r>
            <a:endParaRPr b="0" i="0" sz="970" u="none" cap="none" strike="noStrike">
              <a:solidFill>
                <a:schemeClr val="dk1"/>
              </a:solidFill>
              <a:latin typeface="Calibri"/>
              <a:ea typeface="Calibri"/>
              <a:cs typeface="Calibri"/>
              <a:sym typeface="Calibri"/>
            </a:endParaRPr>
          </a:p>
        </p:txBody>
      </p:sp>
      <p:sp>
        <p:nvSpPr>
          <p:cNvPr id="140" name="Google Shape;140;p6"/>
          <p:cNvSpPr/>
          <p:nvPr/>
        </p:nvSpPr>
        <p:spPr>
          <a:xfrm>
            <a:off x="1565075" y="1836729"/>
            <a:ext cx="1853400" cy="567000"/>
          </a:xfrm>
          <a:prstGeom prst="rect">
            <a:avLst/>
          </a:prstGeom>
          <a:solidFill>
            <a:srgbClr val="0B0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6"/>
          <p:cNvSpPr txBox="1"/>
          <p:nvPr/>
        </p:nvSpPr>
        <p:spPr>
          <a:xfrm>
            <a:off x="1217664" y="2307496"/>
            <a:ext cx="250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rgbClr val="EFEFEF"/>
                </a:solidFill>
                <a:latin typeface="Work Sans"/>
                <a:ea typeface="Work Sans"/>
                <a:cs typeface="Work Sans"/>
                <a:sym typeface="Work Sans"/>
              </a:rPr>
              <a:t>Test Accuracy by Model (%)</a:t>
            </a:r>
            <a:endParaRPr sz="1000">
              <a:solidFill>
                <a:srgbClr val="EFEFEF"/>
              </a:solidFill>
              <a:latin typeface="Work Sans"/>
              <a:ea typeface="Work Sans"/>
              <a:cs typeface="Work Sans"/>
              <a:sym typeface="Work Sans"/>
            </a:endParaRPr>
          </a:p>
        </p:txBody>
      </p:sp>
      <p:sp>
        <p:nvSpPr>
          <p:cNvPr id="142" name="Google Shape;142;p6"/>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5</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MODEL BUILDING</a:t>
            </a:r>
            <a:endParaRPr b="1" i="0" sz="1100" u="none" cap="none" strike="noStrike">
              <a:solidFill>
                <a:srgbClr val="BF9000"/>
              </a:solidFill>
              <a:latin typeface="Work Sans"/>
              <a:ea typeface="Work Sans"/>
              <a:cs typeface="Work Sans"/>
              <a:sym typeface="Work Sans"/>
            </a:endParaRPr>
          </a:p>
        </p:txBody>
      </p:sp>
      <p:sp>
        <p:nvSpPr>
          <p:cNvPr id="143" name="Google Shape;143;p6"/>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MODEL BUILDING &amp; evaluation</a:t>
            </a:r>
            <a:endParaRPr b="0" i="0" sz="2900" u="none" cap="none" strike="noStrike">
              <a:solidFill>
                <a:schemeClr val="dk1"/>
              </a:solidFill>
              <a:latin typeface="Calibri"/>
              <a:ea typeface="Calibri"/>
              <a:cs typeface="Calibri"/>
              <a:sym typeface="Calibri"/>
            </a:endParaRPr>
          </a:p>
        </p:txBody>
      </p:sp>
      <p:sp>
        <p:nvSpPr>
          <p:cNvPr id="144" name="Google Shape;144;p6"/>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49" name="Shape 149"/>
        <p:cNvGrpSpPr/>
        <p:nvPr/>
      </p:nvGrpSpPr>
      <p:grpSpPr>
        <a:xfrm>
          <a:off x="0" y="0"/>
          <a:ext cx="0" cy="0"/>
          <a:chOff x="0" y="0"/>
          <a:chExt cx="0" cy="0"/>
        </a:xfrm>
      </p:grpSpPr>
      <p:sp>
        <p:nvSpPr>
          <p:cNvPr id="150" name="Google Shape;150;p7"/>
          <p:cNvSpPr txBox="1"/>
          <p:nvPr/>
        </p:nvSpPr>
        <p:spPr>
          <a:xfrm>
            <a:off x="502925" y="1079975"/>
            <a:ext cx="7837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150"/>
              <a:buFont typeface="Work Sans"/>
              <a:buNone/>
            </a:pPr>
            <a:r>
              <a:rPr lang="en-US" sz="1150">
                <a:solidFill>
                  <a:srgbClr val="D9D9D9"/>
                </a:solidFill>
                <a:latin typeface="Work Sans"/>
                <a:ea typeface="Work Sans"/>
                <a:cs typeface="Work Sans"/>
                <a:sym typeface="Work Sans"/>
              </a:rPr>
              <a:t>After Random Search and Grid Search still left the XGBoost overfitting (train ≈80%, test ≈73%), the model was rebuilt with manually chosen hyperparameters, favoring a simpler, more conservative configuration. </a:t>
            </a:r>
            <a:endParaRPr b="0" i="0" sz="1150" u="none" cap="none" strike="noStrike">
              <a:solidFill>
                <a:schemeClr val="dk1"/>
              </a:solidFill>
              <a:latin typeface="Calibri"/>
              <a:ea typeface="Calibri"/>
              <a:cs typeface="Calibri"/>
              <a:sym typeface="Calibri"/>
            </a:endParaRPr>
          </a:p>
        </p:txBody>
      </p:sp>
      <p:sp>
        <p:nvSpPr>
          <p:cNvPr id="151" name="Google Shape;151;p7"/>
          <p:cNvSpPr/>
          <p:nvPr/>
        </p:nvSpPr>
        <p:spPr>
          <a:xfrm>
            <a:off x="780951" y="1804405"/>
            <a:ext cx="4114800" cy="2743200"/>
          </a:xfrm>
          <a:prstGeom prst="roundRect">
            <a:avLst>
              <a:gd fmla="val 300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txBox="1"/>
          <p:nvPr/>
        </p:nvSpPr>
        <p:spPr>
          <a:xfrm>
            <a:off x="1055267" y="2005563"/>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i="0" lang="en-US" sz="1200" u="none" cap="none" strike="noStrike">
                <a:solidFill>
                  <a:schemeClr val="lt2"/>
                </a:solidFill>
                <a:latin typeface="Bebas Neue"/>
                <a:ea typeface="Bebas Neue"/>
                <a:cs typeface="Bebas Neue"/>
                <a:sym typeface="Bebas Neue"/>
              </a:rPr>
              <a:t>KEY HYPERPARAMETERS</a:t>
            </a:r>
            <a:endParaRPr i="0" sz="1200" u="none" cap="none" strike="noStrike">
              <a:solidFill>
                <a:schemeClr val="lt2"/>
              </a:solidFill>
              <a:latin typeface="Bebas Neue"/>
              <a:ea typeface="Bebas Neue"/>
              <a:cs typeface="Bebas Neue"/>
              <a:sym typeface="Bebas Neue"/>
            </a:endParaRPr>
          </a:p>
        </p:txBody>
      </p:sp>
      <p:sp>
        <p:nvSpPr>
          <p:cNvPr id="153" name="Google Shape;153;p7"/>
          <p:cNvSpPr txBox="1"/>
          <p:nvPr/>
        </p:nvSpPr>
        <p:spPr>
          <a:xfrm>
            <a:off x="1055267" y="2371323"/>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max_depth = 3</a:t>
            </a:r>
            <a:endParaRPr b="0" i="0" sz="1100" u="none" cap="none" strike="noStrike">
              <a:solidFill>
                <a:schemeClr val="dk1"/>
              </a:solidFill>
              <a:latin typeface="Calibri"/>
              <a:ea typeface="Calibri"/>
              <a:cs typeface="Calibri"/>
              <a:sym typeface="Calibri"/>
            </a:endParaRPr>
          </a:p>
        </p:txBody>
      </p:sp>
      <p:sp>
        <p:nvSpPr>
          <p:cNvPr id="154" name="Google Shape;154;p7"/>
          <p:cNvSpPr txBox="1"/>
          <p:nvPr/>
        </p:nvSpPr>
        <p:spPr>
          <a:xfrm>
            <a:off x="1055267" y="2599923"/>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best generalization</a:t>
            </a:r>
            <a:endParaRPr b="0" i="0" sz="1000" u="none" cap="none" strike="noStrike">
              <a:solidFill>
                <a:schemeClr val="dk1"/>
              </a:solidFill>
              <a:latin typeface="Calibri"/>
              <a:ea typeface="Calibri"/>
              <a:cs typeface="Calibri"/>
              <a:sym typeface="Calibri"/>
            </a:endParaRPr>
          </a:p>
        </p:txBody>
      </p:sp>
      <p:sp>
        <p:nvSpPr>
          <p:cNvPr id="155" name="Google Shape;155;p7"/>
          <p:cNvSpPr txBox="1"/>
          <p:nvPr/>
        </p:nvSpPr>
        <p:spPr>
          <a:xfrm>
            <a:off x="1055267" y="2901675"/>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learning_rate = 0.1, n_estimators = 300</a:t>
            </a:r>
            <a:endParaRPr b="0" i="0" sz="1100" u="none" cap="none" strike="noStrike">
              <a:solidFill>
                <a:schemeClr val="dk1"/>
              </a:solidFill>
              <a:latin typeface="Calibri"/>
              <a:ea typeface="Calibri"/>
              <a:cs typeface="Calibri"/>
              <a:sym typeface="Calibri"/>
            </a:endParaRPr>
          </a:p>
        </p:txBody>
      </p:sp>
      <p:sp>
        <p:nvSpPr>
          <p:cNvPr id="156" name="Google Shape;156;p7"/>
          <p:cNvSpPr txBox="1"/>
          <p:nvPr/>
        </p:nvSpPr>
        <p:spPr>
          <a:xfrm>
            <a:off x="1055267" y="3130275"/>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stable learning</a:t>
            </a:r>
            <a:endParaRPr b="0" i="0" sz="1000" u="none" cap="none" strike="noStrike">
              <a:solidFill>
                <a:schemeClr val="dk1"/>
              </a:solidFill>
              <a:latin typeface="Calibri"/>
              <a:ea typeface="Calibri"/>
              <a:cs typeface="Calibri"/>
              <a:sym typeface="Calibri"/>
            </a:endParaRPr>
          </a:p>
        </p:txBody>
      </p:sp>
      <p:sp>
        <p:nvSpPr>
          <p:cNvPr id="157" name="Google Shape;157;p7"/>
          <p:cNvSpPr txBox="1"/>
          <p:nvPr/>
        </p:nvSpPr>
        <p:spPr>
          <a:xfrm>
            <a:off x="1055267" y="3432027"/>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subsample = 0.8, colsample_bytree = 0.8</a:t>
            </a:r>
            <a:endParaRPr b="0" i="0" sz="1100" u="none" cap="none" strike="noStrike">
              <a:solidFill>
                <a:schemeClr val="dk1"/>
              </a:solidFill>
              <a:latin typeface="Calibri"/>
              <a:ea typeface="Calibri"/>
              <a:cs typeface="Calibri"/>
              <a:sym typeface="Calibri"/>
            </a:endParaRPr>
          </a:p>
        </p:txBody>
      </p:sp>
      <p:sp>
        <p:nvSpPr>
          <p:cNvPr id="158" name="Google Shape;158;p7"/>
          <p:cNvSpPr txBox="1"/>
          <p:nvPr/>
        </p:nvSpPr>
        <p:spPr>
          <a:xfrm>
            <a:off x="1055267" y="3660627"/>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reduced variance</a:t>
            </a:r>
            <a:endParaRPr b="0" i="0" sz="1000" u="none" cap="none" strike="noStrike">
              <a:solidFill>
                <a:schemeClr val="dk1"/>
              </a:solidFill>
              <a:latin typeface="Calibri"/>
              <a:ea typeface="Calibri"/>
              <a:cs typeface="Calibri"/>
              <a:sym typeface="Calibri"/>
            </a:endParaRPr>
          </a:p>
        </p:txBody>
      </p:sp>
      <p:sp>
        <p:nvSpPr>
          <p:cNvPr id="159" name="Google Shape;159;p7"/>
          <p:cNvSpPr txBox="1"/>
          <p:nvPr/>
        </p:nvSpPr>
        <p:spPr>
          <a:xfrm>
            <a:off x="1055267" y="3962379"/>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reg_alpha, reg_lambda</a:t>
            </a:r>
            <a:endParaRPr b="0" i="0" sz="1100" u="none" cap="none" strike="noStrike">
              <a:solidFill>
                <a:schemeClr val="dk1"/>
              </a:solidFill>
              <a:latin typeface="Calibri"/>
              <a:ea typeface="Calibri"/>
              <a:cs typeface="Calibri"/>
              <a:sym typeface="Calibri"/>
            </a:endParaRPr>
          </a:p>
        </p:txBody>
      </p:sp>
      <p:sp>
        <p:nvSpPr>
          <p:cNvPr id="160" name="Google Shape;160;p7"/>
          <p:cNvSpPr txBox="1"/>
          <p:nvPr/>
        </p:nvSpPr>
        <p:spPr>
          <a:xfrm>
            <a:off x="1055267" y="4190979"/>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controlled complexity</a:t>
            </a:r>
            <a:endParaRPr b="0" i="0" sz="1000" u="none" cap="none" strike="noStrike">
              <a:solidFill>
                <a:schemeClr val="dk1"/>
              </a:solidFill>
              <a:latin typeface="Calibri"/>
              <a:ea typeface="Calibri"/>
              <a:cs typeface="Calibri"/>
              <a:sym typeface="Calibri"/>
            </a:endParaRPr>
          </a:p>
        </p:txBody>
      </p:sp>
      <p:sp>
        <p:nvSpPr>
          <p:cNvPr id="161" name="Google Shape;161;p7"/>
          <p:cNvSpPr/>
          <p:nvPr/>
        </p:nvSpPr>
        <p:spPr>
          <a:xfrm>
            <a:off x="5242508" y="1804395"/>
            <a:ext cx="3108900" cy="2743200"/>
          </a:xfrm>
          <a:prstGeom prst="roundRect">
            <a:avLst>
              <a:gd fmla="val 3000"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txBox="1"/>
          <p:nvPr/>
        </p:nvSpPr>
        <p:spPr>
          <a:xfrm>
            <a:off x="5230924" y="2005428"/>
            <a:ext cx="310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6C9"/>
              </a:buClr>
              <a:buSzPts val="1200"/>
              <a:buFont typeface="Bebas Neue"/>
              <a:buNone/>
            </a:pPr>
            <a:r>
              <a:rPr b="0" i="0" lang="en-US" sz="1200" u="none" cap="none" strike="noStrike">
                <a:solidFill>
                  <a:srgbClr val="FFD6C9"/>
                </a:solidFill>
                <a:latin typeface="Bebas Neue"/>
                <a:ea typeface="Bebas Neue"/>
                <a:cs typeface="Bebas Neue"/>
                <a:sym typeface="Bebas Neue"/>
              </a:rPr>
              <a:t>TEST ACCURACY</a:t>
            </a:r>
            <a:endParaRPr b="0" i="0" sz="1200" u="none" cap="none" strike="noStrike">
              <a:solidFill>
                <a:schemeClr val="dk1"/>
              </a:solidFill>
              <a:latin typeface="Calibri"/>
              <a:ea typeface="Calibri"/>
              <a:cs typeface="Calibri"/>
              <a:sym typeface="Calibri"/>
            </a:endParaRPr>
          </a:p>
        </p:txBody>
      </p:sp>
      <p:sp>
        <p:nvSpPr>
          <p:cNvPr id="163" name="Google Shape;163;p7"/>
          <p:cNvSpPr txBox="1"/>
          <p:nvPr/>
        </p:nvSpPr>
        <p:spPr>
          <a:xfrm>
            <a:off x="5242508" y="2334747"/>
            <a:ext cx="31089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200"/>
              <a:buFont typeface="Bebas Neue"/>
              <a:buNone/>
            </a:pPr>
            <a:r>
              <a:rPr b="1" i="0" lang="en-US" sz="5200" u="none" cap="none" strike="noStrike">
                <a:solidFill>
                  <a:srgbClr val="FFFFFF"/>
                </a:solidFill>
                <a:latin typeface="Bebas Neue"/>
                <a:ea typeface="Bebas Neue"/>
                <a:cs typeface="Bebas Neue"/>
                <a:sym typeface="Bebas Neue"/>
              </a:rPr>
              <a:t>74.37%</a:t>
            </a:r>
            <a:endParaRPr b="0" i="0" sz="5200" u="none" cap="none" strike="noStrike">
              <a:solidFill>
                <a:schemeClr val="dk1"/>
              </a:solidFill>
              <a:latin typeface="Calibri"/>
              <a:ea typeface="Calibri"/>
              <a:cs typeface="Calibri"/>
              <a:sym typeface="Calibri"/>
            </a:endParaRPr>
          </a:p>
        </p:txBody>
      </p:sp>
      <p:sp>
        <p:nvSpPr>
          <p:cNvPr id="164" name="Google Shape;164;p7"/>
          <p:cNvSpPr txBox="1"/>
          <p:nvPr/>
        </p:nvSpPr>
        <p:spPr>
          <a:xfrm>
            <a:off x="5471108" y="3313155"/>
            <a:ext cx="2651700" cy="8229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FFE3DB"/>
              </a:buClr>
              <a:buSzPts val="1050"/>
              <a:buFont typeface="Work Sans"/>
              <a:buNone/>
            </a:pPr>
            <a:r>
              <a:rPr b="0" i="0" lang="en-US" sz="1050" u="none" cap="none" strike="noStrike">
                <a:solidFill>
                  <a:srgbClr val="FFE3DB"/>
                </a:solidFill>
                <a:latin typeface="Work Sans"/>
                <a:ea typeface="Work Sans"/>
                <a:cs typeface="Work Sans"/>
                <a:sym typeface="Work Sans"/>
              </a:rPr>
              <a:t>Balanced precision, recall &amp; F1</a:t>
            </a:r>
            <a:endParaRPr b="0" i="0" sz="105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FFE3DB"/>
              </a:buClr>
              <a:buSzPts val="1050"/>
              <a:buFont typeface="Work Sans"/>
              <a:buNone/>
            </a:pPr>
            <a:r>
              <a:rPr b="0" i="0" lang="en-US" sz="1050" u="none" cap="none" strike="noStrike">
                <a:solidFill>
                  <a:srgbClr val="FFE3DB"/>
                </a:solidFill>
                <a:latin typeface="Work Sans"/>
                <a:ea typeface="Work Sans"/>
                <a:cs typeface="Work Sans"/>
                <a:sym typeface="Work Sans"/>
              </a:rPr>
              <a:t>Minimal train/test gap — no overfitting</a:t>
            </a:r>
            <a:endParaRPr b="0" i="0" sz="1050" u="none" cap="none" strike="noStrike">
              <a:solidFill>
                <a:schemeClr val="dk1"/>
              </a:solidFill>
              <a:latin typeface="Calibri"/>
              <a:ea typeface="Calibri"/>
              <a:cs typeface="Calibri"/>
              <a:sym typeface="Calibri"/>
            </a:endParaRPr>
          </a:p>
        </p:txBody>
      </p:sp>
      <p:sp>
        <p:nvSpPr>
          <p:cNvPr id="165" name="Google Shape;165;p7"/>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5</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MODEL BUILDING</a:t>
            </a:r>
            <a:endParaRPr b="1" i="0" sz="1100" u="none" cap="none" strike="noStrike">
              <a:solidFill>
                <a:srgbClr val="BF9000"/>
              </a:solidFill>
              <a:latin typeface="Work Sans"/>
              <a:ea typeface="Work Sans"/>
              <a:cs typeface="Work Sans"/>
              <a:sym typeface="Work Sans"/>
            </a:endParaRPr>
          </a:p>
        </p:txBody>
      </p:sp>
      <p:sp>
        <p:nvSpPr>
          <p:cNvPr id="166" name="Google Shape;166;p7"/>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FINAL </a:t>
            </a:r>
            <a:r>
              <a:rPr b="1" lang="en-US" sz="2900">
                <a:solidFill>
                  <a:srgbClr val="FFFFFF"/>
                </a:solidFill>
                <a:latin typeface="Bebas Neue"/>
                <a:ea typeface="Bebas Neue"/>
                <a:cs typeface="Bebas Neue"/>
                <a:sym typeface="Bebas Neue"/>
              </a:rPr>
              <a:t>MODEL: TUNING &amp; RESULTS</a:t>
            </a:r>
            <a:endParaRPr b="0" i="0" sz="2900" u="none" cap="none" strike="noStrike">
              <a:solidFill>
                <a:schemeClr val="dk1"/>
              </a:solidFill>
              <a:latin typeface="Calibri"/>
              <a:ea typeface="Calibri"/>
              <a:cs typeface="Calibri"/>
              <a:sym typeface="Calibri"/>
            </a:endParaRPr>
          </a:p>
        </p:txBody>
      </p:sp>
      <p:sp>
        <p:nvSpPr>
          <p:cNvPr id="167" name="Google Shape;167;p7"/>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72" name="Shape 172"/>
        <p:cNvGrpSpPr/>
        <p:nvPr/>
      </p:nvGrpSpPr>
      <p:grpSpPr>
        <a:xfrm>
          <a:off x="0" y="0"/>
          <a:ext cx="0" cy="0"/>
          <a:chOff x="0" y="0"/>
          <a:chExt cx="0" cy="0"/>
        </a:xfrm>
      </p:grpSpPr>
      <p:sp>
        <p:nvSpPr>
          <p:cNvPr id="173" name="Google Shape;173;p8"/>
          <p:cNvSpPr/>
          <p:nvPr/>
        </p:nvSpPr>
        <p:spPr>
          <a:xfrm>
            <a:off x="594338" y="1344720"/>
            <a:ext cx="3749100" cy="14640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880855" y="1445886"/>
            <a:ext cx="457200" cy="4572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txBox="1"/>
          <p:nvPr/>
        </p:nvSpPr>
        <p:spPr>
          <a:xfrm>
            <a:off x="880855" y="143674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76" name="Google Shape;176;p8"/>
          <p:cNvSpPr txBox="1"/>
          <p:nvPr/>
        </p:nvSpPr>
        <p:spPr>
          <a:xfrm>
            <a:off x="1463013" y="150624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BEST OVERALL BALANCE</a:t>
            </a:r>
            <a:endParaRPr i="0" sz="1300" u="none" cap="none" strike="noStrike">
              <a:solidFill>
                <a:schemeClr val="dk1"/>
              </a:solidFill>
              <a:latin typeface="Calibri"/>
              <a:ea typeface="Calibri"/>
              <a:cs typeface="Calibri"/>
              <a:sym typeface="Calibri"/>
            </a:endParaRPr>
          </a:p>
        </p:txBody>
      </p:sp>
      <p:sp>
        <p:nvSpPr>
          <p:cNvPr id="177" name="Google Shape;177;p8"/>
          <p:cNvSpPr txBox="1"/>
          <p:nvPr/>
        </p:nvSpPr>
        <p:spPr>
          <a:xfrm>
            <a:off x="869270" y="1957980"/>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The manually tuned XGBoost achieved the best balance between accuracy, stability and generalization — outperforming all other tested models.</a:t>
            </a:r>
            <a:endParaRPr b="0" i="0" sz="1020" u="none" cap="none" strike="noStrike">
              <a:solidFill>
                <a:schemeClr val="dk1"/>
              </a:solidFill>
              <a:latin typeface="Calibri"/>
              <a:ea typeface="Calibri"/>
              <a:cs typeface="Calibri"/>
              <a:sym typeface="Calibri"/>
            </a:endParaRPr>
          </a:p>
        </p:txBody>
      </p:sp>
      <p:sp>
        <p:nvSpPr>
          <p:cNvPr id="178" name="Google Shape;178;p8"/>
          <p:cNvSpPr/>
          <p:nvPr/>
        </p:nvSpPr>
        <p:spPr>
          <a:xfrm>
            <a:off x="4800575" y="1344720"/>
            <a:ext cx="3749100" cy="14640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5098679" y="1445886"/>
            <a:ext cx="457200" cy="4572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5098679" y="143674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81" name="Google Shape;181;p8"/>
          <p:cNvSpPr txBox="1"/>
          <p:nvPr/>
        </p:nvSpPr>
        <p:spPr>
          <a:xfrm>
            <a:off x="5669252" y="150624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TUNING WAS ESSENTIAL</a:t>
            </a:r>
            <a:endParaRPr i="0" sz="1300" u="none" cap="none" strike="noStrike">
              <a:solidFill>
                <a:schemeClr val="dk1"/>
              </a:solidFill>
              <a:latin typeface="Calibri"/>
              <a:ea typeface="Calibri"/>
              <a:cs typeface="Calibri"/>
              <a:sym typeface="Calibri"/>
            </a:endParaRPr>
          </a:p>
        </p:txBody>
      </p:sp>
      <p:sp>
        <p:nvSpPr>
          <p:cNvPr id="182" name="Google Shape;182;p8"/>
          <p:cNvSpPr txBox="1"/>
          <p:nvPr/>
        </p:nvSpPr>
        <p:spPr>
          <a:xfrm>
            <a:off x="5075510" y="1957980"/>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Careful hyperparameter tuning, combining automated search with manual refinement, was essential to reach optimal performance.</a:t>
            </a:r>
            <a:endParaRPr b="0" i="0" sz="1020" u="none" cap="none" strike="noStrike">
              <a:solidFill>
                <a:schemeClr val="dk1"/>
              </a:solidFill>
              <a:latin typeface="Calibri"/>
              <a:ea typeface="Calibri"/>
              <a:cs typeface="Calibri"/>
              <a:sym typeface="Calibri"/>
            </a:endParaRPr>
          </a:p>
        </p:txBody>
      </p:sp>
      <p:sp>
        <p:nvSpPr>
          <p:cNvPr id="183" name="Google Shape;183;p8"/>
          <p:cNvSpPr/>
          <p:nvPr/>
        </p:nvSpPr>
        <p:spPr>
          <a:xfrm>
            <a:off x="594338" y="2990646"/>
            <a:ext cx="3749100" cy="15183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892439" y="3091806"/>
            <a:ext cx="457200" cy="4572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txBox="1"/>
          <p:nvPr/>
        </p:nvSpPr>
        <p:spPr>
          <a:xfrm>
            <a:off x="892439" y="308266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86" name="Google Shape;186;p8"/>
          <p:cNvSpPr txBox="1"/>
          <p:nvPr/>
        </p:nvSpPr>
        <p:spPr>
          <a:xfrm>
            <a:off x="1463013" y="315216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METADATA PREDICTS RATINGS</a:t>
            </a:r>
            <a:endParaRPr i="0" sz="1300" u="none" cap="none" strike="noStrike">
              <a:solidFill>
                <a:schemeClr val="dk1"/>
              </a:solidFill>
              <a:latin typeface="Calibri"/>
              <a:ea typeface="Calibri"/>
              <a:cs typeface="Calibri"/>
              <a:sym typeface="Calibri"/>
            </a:endParaRPr>
          </a:p>
        </p:txBody>
      </p:sp>
      <p:sp>
        <p:nvSpPr>
          <p:cNvPr id="187" name="Google Shape;187;p8"/>
          <p:cNvSpPr txBox="1"/>
          <p:nvPr/>
        </p:nvSpPr>
        <p:spPr>
          <a:xfrm>
            <a:off x="846101" y="3708161"/>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The final model shows that structured metadata (</a:t>
            </a:r>
            <a:r>
              <a:rPr lang="en-US" sz="1020">
                <a:solidFill>
                  <a:srgbClr val="D9D9D9"/>
                </a:solidFill>
                <a:latin typeface="Work Sans"/>
                <a:ea typeface="Work Sans"/>
                <a:cs typeface="Work Sans"/>
                <a:sym typeface="Work Sans"/>
              </a:rPr>
              <a:t>categorization /</a:t>
            </a:r>
            <a:r>
              <a:rPr b="0" i="0" lang="en-US" sz="1020" u="none" cap="none" strike="noStrike">
                <a:solidFill>
                  <a:srgbClr val="D9D9D9"/>
                </a:solidFill>
                <a:latin typeface="Work Sans"/>
                <a:ea typeface="Work Sans"/>
                <a:cs typeface="Work Sans"/>
                <a:sym typeface="Work Sans"/>
              </a:rPr>
              <a:t> cluster</a:t>
            </a:r>
            <a:r>
              <a:rPr lang="en-US" sz="1020">
                <a:solidFill>
                  <a:srgbClr val="D9D9D9"/>
                </a:solidFill>
                <a:latin typeface="Work Sans"/>
                <a:ea typeface="Work Sans"/>
                <a:cs typeface="Work Sans"/>
                <a:sym typeface="Work Sans"/>
              </a:rPr>
              <a:t>ing</a:t>
            </a:r>
            <a:r>
              <a:rPr b="0" i="0" lang="en-US" sz="1020" u="none" cap="none" strike="noStrike">
                <a:solidFill>
                  <a:srgbClr val="D9D9D9"/>
                </a:solidFill>
                <a:latin typeface="Work Sans"/>
                <a:ea typeface="Work Sans"/>
                <a:cs typeface="Work Sans"/>
                <a:sym typeface="Work Sans"/>
              </a:rPr>
              <a:t>) can effectively predict movie ratings.</a:t>
            </a:r>
            <a:endParaRPr b="0" i="0" sz="1020" u="none" cap="none" strike="noStrike">
              <a:solidFill>
                <a:schemeClr val="dk1"/>
              </a:solidFill>
              <a:latin typeface="Calibri"/>
              <a:ea typeface="Calibri"/>
              <a:cs typeface="Calibri"/>
              <a:sym typeface="Calibri"/>
            </a:endParaRPr>
          </a:p>
        </p:txBody>
      </p:sp>
      <p:sp>
        <p:nvSpPr>
          <p:cNvPr id="188" name="Google Shape;188;p8"/>
          <p:cNvSpPr/>
          <p:nvPr/>
        </p:nvSpPr>
        <p:spPr>
          <a:xfrm>
            <a:off x="4800575" y="2990574"/>
            <a:ext cx="3749100" cy="15183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5098679" y="3091806"/>
            <a:ext cx="457200" cy="4572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txBox="1"/>
          <p:nvPr/>
        </p:nvSpPr>
        <p:spPr>
          <a:xfrm>
            <a:off x="5098679" y="308266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91" name="Google Shape;191;p8"/>
          <p:cNvSpPr txBox="1"/>
          <p:nvPr/>
        </p:nvSpPr>
        <p:spPr>
          <a:xfrm>
            <a:off x="5669252" y="315216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A FIRST STEP, NOT THE LAST</a:t>
            </a:r>
            <a:endParaRPr i="0" sz="1300" u="none" cap="none" strike="noStrike">
              <a:solidFill>
                <a:schemeClr val="dk1"/>
              </a:solidFill>
              <a:latin typeface="Calibri"/>
              <a:ea typeface="Calibri"/>
              <a:cs typeface="Calibri"/>
              <a:sym typeface="Calibri"/>
            </a:endParaRPr>
          </a:p>
        </p:txBody>
      </p:sp>
      <p:sp>
        <p:nvSpPr>
          <p:cNvPr id="192" name="Google Shape;192;p8"/>
          <p:cNvSpPr txBox="1"/>
          <p:nvPr/>
        </p:nvSpPr>
        <p:spPr>
          <a:xfrm>
            <a:off x="5075491" y="3708161"/>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A primary model to understand behavior; could later evolve to a regression approach, but likely needs more data.</a:t>
            </a:r>
            <a:endParaRPr b="0" i="0" sz="1020" u="none" cap="none" strike="noStrike">
              <a:solidFill>
                <a:schemeClr val="dk1"/>
              </a:solidFill>
              <a:latin typeface="Calibri"/>
              <a:ea typeface="Calibri"/>
              <a:cs typeface="Calibri"/>
              <a:sym typeface="Calibri"/>
            </a:endParaRPr>
          </a:p>
        </p:txBody>
      </p:sp>
      <p:sp>
        <p:nvSpPr>
          <p:cNvPr id="193" name="Google Shape;193;p8"/>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6</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KEY FINDINGS</a:t>
            </a:r>
            <a:endParaRPr b="1" i="0" sz="1100" u="none" cap="none" strike="noStrike">
              <a:solidFill>
                <a:srgbClr val="BF9000"/>
              </a:solidFill>
              <a:latin typeface="Work Sans"/>
              <a:ea typeface="Work Sans"/>
              <a:cs typeface="Work Sans"/>
              <a:sym typeface="Work Sans"/>
            </a:endParaRPr>
          </a:p>
        </p:txBody>
      </p:sp>
      <p:sp>
        <p:nvSpPr>
          <p:cNvPr id="194" name="Google Shape;194;p8"/>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key </a:t>
            </a:r>
            <a:r>
              <a:rPr b="1" lang="en-US" sz="2900">
                <a:solidFill>
                  <a:srgbClr val="FFFFFF"/>
                </a:solidFill>
                <a:latin typeface="Bebas Neue"/>
                <a:ea typeface="Bebas Neue"/>
                <a:cs typeface="Bebas Neue"/>
                <a:sym typeface="Bebas Neue"/>
              </a:rPr>
              <a:t>findings</a:t>
            </a:r>
            <a:r>
              <a:rPr b="1" lang="en-US" sz="2900">
                <a:solidFill>
                  <a:srgbClr val="FFFFFF"/>
                </a:solidFill>
                <a:latin typeface="Bebas Neue"/>
                <a:ea typeface="Bebas Neue"/>
                <a:cs typeface="Bebas Neue"/>
                <a:sym typeface="Bebas Neue"/>
              </a:rPr>
              <a:t> &amp; insights</a:t>
            </a:r>
            <a:endParaRPr b="0" i="0" sz="2900" u="none" cap="none" strike="noStrike">
              <a:solidFill>
                <a:schemeClr val="dk1"/>
              </a:solidFill>
              <a:latin typeface="Calibri"/>
              <a:ea typeface="Calibri"/>
              <a:cs typeface="Calibri"/>
              <a:sym typeface="Calibri"/>
            </a:endParaRPr>
          </a:p>
        </p:txBody>
      </p:sp>
      <p:sp>
        <p:nvSpPr>
          <p:cNvPr id="195" name="Google Shape;195;p8"/>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00" name="Shape 200"/>
        <p:cNvGrpSpPr/>
        <p:nvPr/>
      </p:nvGrpSpPr>
      <p:grpSpPr>
        <a:xfrm>
          <a:off x="0" y="0"/>
          <a:ext cx="0" cy="0"/>
          <a:chOff x="0" y="0"/>
          <a:chExt cx="0" cy="0"/>
        </a:xfrm>
      </p:grpSpPr>
      <p:sp>
        <p:nvSpPr>
          <p:cNvPr id="201" name="Google Shape;201;p9"/>
          <p:cNvSpPr/>
          <p:nvPr/>
        </p:nvSpPr>
        <p:spPr>
          <a:xfrm>
            <a:off x="553208"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1595624" y="1780609"/>
            <a:ext cx="502800" cy="5028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txBox="1"/>
          <p:nvPr/>
        </p:nvSpPr>
        <p:spPr>
          <a:xfrm>
            <a:off x="1595624" y="1771465"/>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04" name="Google Shape;204;p9"/>
          <p:cNvSpPr txBox="1"/>
          <p:nvPr/>
        </p:nvSpPr>
        <p:spPr>
          <a:xfrm>
            <a:off x="717799"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BUSINESS USE</a:t>
            </a:r>
            <a:endParaRPr i="0" sz="1600" u="none" cap="none" strike="noStrike">
              <a:solidFill>
                <a:schemeClr val="dk1"/>
              </a:solidFill>
              <a:latin typeface="Bebas Neue"/>
              <a:ea typeface="Bebas Neue"/>
              <a:cs typeface="Bebas Neue"/>
              <a:sym typeface="Bebas Neue"/>
            </a:endParaRPr>
          </a:p>
        </p:txBody>
      </p:sp>
      <p:sp>
        <p:nvSpPr>
          <p:cNvPr id="205" name="Google Shape;205;p9"/>
          <p:cNvSpPr txBox="1"/>
          <p:nvPr/>
        </p:nvSpPr>
        <p:spPr>
          <a:xfrm>
            <a:off x="754376"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Helps streaming platforms and studios predict audience reception before release, supporting smarter content acquisition and </a:t>
            </a:r>
            <a:endParaRPr b="0" i="0" sz="1100" u="none" cap="none" strike="noStrike">
              <a:solidFill>
                <a:srgbClr val="D9D9D9"/>
              </a:solidFill>
              <a:latin typeface="Work Sans"/>
              <a:ea typeface="Work Sans"/>
              <a:cs typeface="Work Sans"/>
              <a:sym typeface="Work Sans"/>
            </a:endParaRPr>
          </a:p>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marketing decisions.</a:t>
            </a:r>
            <a:endParaRPr b="0" i="0" sz="1100" u="none" cap="none" strike="noStrike">
              <a:solidFill>
                <a:schemeClr val="dk1"/>
              </a:solidFill>
              <a:latin typeface="Calibri"/>
              <a:ea typeface="Calibri"/>
              <a:cs typeface="Calibri"/>
              <a:sym typeface="Calibri"/>
            </a:endParaRPr>
          </a:p>
        </p:txBody>
      </p:sp>
      <p:sp>
        <p:nvSpPr>
          <p:cNvPr id="206" name="Google Shape;206;p9"/>
          <p:cNvSpPr/>
          <p:nvPr/>
        </p:nvSpPr>
        <p:spPr>
          <a:xfrm>
            <a:off x="3278120"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4320536" y="1780609"/>
            <a:ext cx="502800" cy="5028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txBox="1"/>
          <p:nvPr/>
        </p:nvSpPr>
        <p:spPr>
          <a:xfrm>
            <a:off x="4320536" y="1771465"/>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09" name="Google Shape;209;p9"/>
          <p:cNvSpPr txBox="1"/>
          <p:nvPr/>
        </p:nvSpPr>
        <p:spPr>
          <a:xfrm>
            <a:off x="3442712"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DATA-DRIVEN VALUE</a:t>
            </a:r>
            <a:endParaRPr i="0" sz="1600" u="none" cap="none" strike="noStrike">
              <a:solidFill>
                <a:schemeClr val="dk1"/>
              </a:solidFill>
              <a:latin typeface="Bebas Neue"/>
              <a:ea typeface="Bebas Neue"/>
              <a:cs typeface="Bebas Neue"/>
              <a:sym typeface="Bebas Neue"/>
            </a:endParaRPr>
          </a:p>
        </p:txBody>
      </p:sp>
      <p:sp>
        <p:nvSpPr>
          <p:cNvPr id="210" name="Google Shape;210;p9"/>
          <p:cNvSpPr txBox="1"/>
          <p:nvPr/>
        </p:nvSpPr>
        <p:spPr>
          <a:xfrm>
            <a:off x="3479288"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Provides data-driven insights that reduce financial risk and improve recommendation quality across platforms.</a:t>
            </a:r>
            <a:endParaRPr b="0" i="0" sz="1100" u="none" cap="none" strike="noStrike">
              <a:solidFill>
                <a:schemeClr val="dk1"/>
              </a:solidFill>
              <a:latin typeface="Calibri"/>
              <a:ea typeface="Calibri"/>
              <a:cs typeface="Calibri"/>
              <a:sym typeface="Calibri"/>
            </a:endParaRPr>
          </a:p>
        </p:txBody>
      </p:sp>
      <p:sp>
        <p:nvSpPr>
          <p:cNvPr id="211" name="Google Shape;211;p9"/>
          <p:cNvSpPr/>
          <p:nvPr/>
        </p:nvSpPr>
        <p:spPr>
          <a:xfrm>
            <a:off x="6003032"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7045448" y="1780609"/>
            <a:ext cx="502800" cy="5028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txBox="1"/>
          <p:nvPr/>
        </p:nvSpPr>
        <p:spPr>
          <a:xfrm>
            <a:off x="6167624"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ETHICAL CONSIDERATIONS</a:t>
            </a:r>
            <a:endParaRPr i="0" sz="1600" u="none" cap="none" strike="noStrike">
              <a:solidFill>
                <a:schemeClr val="dk1"/>
              </a:solidFill>
              <a:latin typeface="Bebas Neue"/>
              <a:ea typeface="Bebas Neue"/>
              <a:cs typeface="Bebas Neue"/>
              <a:sym typeface="Bebas Neue"/>
            </a:endParaRPr>
          </a:p>
        </p:txBody>
      </p:sp>
      <p:sp>
        <p:nvSpPr>
          <p:cNvPr id="214" name="Google Shape;214;p9"/>
          <p:cNvSpPr txBox="1"/>
          <p:nvPr/>
        </p:nvSpPr>
        <p:spPr>
          <a:xfrm>
            <a:off x="6204174"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Risk of bias reinforcement, limited understanding of creative factors, and the need for continuous updates as audience preferences evolve.</a:t>
            </a:r>
            <a:endParaRPr b="0" i="0" sz="1100" u="none" cap="none" strike="noStrike">
              <a:solidFill>
                <a:schemeClr val="dk1"/>
              </a:solidFill>
              <a:latin typeface="Calibri"/>
              <a:ea typeface="Calibri"/>
              <a:cs typeface="Calibri"/>
              <a:sym typeface="Calibri"/>
            </a:endParaRPr>
          </a:p>
        </p:txBody>
      </p:sp>
      <p:sp>
        <p:nvSpPr>
          <p:cNvPr id="215" name="Google Shape;215;p9"/>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7</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APPLICATION</a:t>
            </a:r>
            <a:endParaRPr b="1" i="0" sz="1100" u="none" cap="none" strike="noStrike">
              <a:solidFill>
                <a:srgbClr val="BF9000"/>
              </a:solidFill>
              <a:latin typeface="Work Sans"/>
              <a:ea typeface="Work Sans"/>
              <a:cs typeface="Work Sans"/>
              <a:sym typeface="Work Sans"/>
            </a:endParaRPr>
          </a:p>
        </p:txBody>
      </p:sp>
      <p:sp>
        <p:nvSpPr>
          <p:cNvPr id="216" name="Google Shape;216;p9"/>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REAL-WORLD APPLICATION &amp; IMPACT </a:t>
            </a:r>
            <a:endParaRPr b="0" i="0" sz="2900" u="none" cap="none" strike="noStrike">
              <a:solidFill>
                <a:schemeClr val="dk1"/>
              </a:solidFill>
              <a:latin typeface="Calibri"/>
              <a:ea typeface="Calibri"/>
              <a:cs typeface="Calibri"/>
              <a:sym typeface="Calibri"/>
            </a:endParaRPr>
          </a:p>
        </p:txBody>
      </p:sp>
      <p:sp>
        <p:nvSpPr>
          <p:cNvPr id="217" name="Google Shape;217;p9"/>
          <p:cNvSpPr/>
          <p:nvPr/>
        </p:nvSpPr>
        <p:spPr>
          <a:xfrm>
            <a:off x="6949151" y="1780600"/>
            <a:ext cx="502800" cy="502800"/>
          </a:xfrm>
          <a:prstGeom prst="ellipse">
            <a:avLst/>
          </a:prstGeom>
          <a:solidFill>
            <a:srgbClr val="6B6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9"/>
          <p:cNvSpPr txBox="1"/>
          <p:nvPr/>
        </p:nvSpPr>
        <p:spPr>
          <a:xfrm>
            <a:off x="6998987" y="1811478"/>
            <a:ext cx="406500" cy="41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19" name="Google Shape;219;p9"/>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24" name="Shape 224"/>
        <p:cNvGrpSpPr/>
        <p:nvPr/>
      </p:nvGrpSpPr>
      <p:grpSpPr>
        <a:xfrm>
          <a:off x="0" y="0"/>
          <a:ext cx="0" cy="0"/>
          <a:chOff x="0" y="0"/>
          <a:chExt cx="0" cy="0"/>
        </a:xfrm>
      </p:grpSpPr>
      <p:sp>
        <p:nvSpPr>
          <p:cNvPr id="225" name="Google Shape;225;g3fba0930468_0_5"/>
          <p:cNvSpPr/>
          <p:nvPr/>
        </p:nvSpPr>
        <p:spPr>
          <a:xfrm>
            <a:off x="502920" y="1494322"/>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fba0930468_0_5"/>
          <p:cNvSpPr/>
          <p:nvPr/>
        </p:nvSpPr>
        <p:spPr>
          <a:xfrm>
            <a:off x="685800" y="1568918"/>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fba0930468_0_5"/>
          <p:cNvSpPr txBox="1"/>
          <p:nvPr/>
        </p:nvSpPr>
        <p:spPr>
          <a:xfrm>
            <a:off x="685800" y="155977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28" name="Google Shape;228;g3fba0930468_0_5"/>
          <p:cNvSpPr txBox="1"/>
          <p:nvPr/>
        </p:nvSpPr>
        <p:spPr>
          <a:xfrm>
            <a:off x="1161288" y="1568918"/>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NORMALIZATION</a:t>
            </a:r>
            <a:endParaRPr i="0" sz="1350" u="none" cap="none" strike="noStrike">
              <a:solidFill>
                <a:schemeClr val="dk1"/>
              </a:solidFill>
              <a:latin typeface="Bebas Neue"/>
              <a:ea typeface="Bebas Neue"/>
              <a:cs typeface="Bebas Neue"/>
              <a:sym typeface="Bebas Neue"/>
            </a:endParaRPr>
          </a:p>
        </p:txBody>
      </p:sp>
      <p:sp>
        <p:nvSpPr>
          <p:cNvPr id="229" name="Google Shape;229;g3fba0930468_0_5"/>
          <p:cNvSpPr txBox="1"/>
          <p:nvPr/>
        </p:nvSpPr>
        <p:spPr>
          <a:xfrm>
            <a:off x="685800" y="1980398"/>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Normalized the DataFrame for ensemble methods, ensuring consistent scaling for magnitude-sensitive algorithms.</a:t>
            </a:r>
            <a:endParaRPr b="0" i="0" sz="1000" u="none" cap="none" strike="noStrike">
              <a:solidFill>
                <a:schemeClr val="dk1"/>
              </a:solidFill>
              <a:latin typeface="Calibri"/>
              <a:ea typeface="Calibri"/>
              <a:cs typeface="Calibri"/>
              <a:sym typeface="Calibri"/>
            </a:endParaRPr>
          </a:p>
        </p:txBody>
      </p:sp>
      <p:sp>
        <p:nvSpPr>
          <p:cNvPr id="230" name="Google Shape;230;g3fba0930468_0_5"/>
          <p:cNvSpPr/>
          <p:nvPr/>
        </p:nvSpPr>
        <p:spPr>
          <a:xfrm>
            <a:off x="3227832" y="1494322"/>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fba0930468_0_5"/>
          <p:cNvSpPr/>
          <p:nvPr/>
        </p:nvSpPr>
        <p:spPr>
          <a:xfrm>
            <a:off x="3410712" y="1568918"/>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fba0930468_0_5"/>
          <p:cNvSpPr txBox="1"/>
          <p:nvPr/>
        </p:nvSpPr>
        <p:spPr>
          <a:xfrm>
            <a:off x="3410712" y="155977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3" name="Google Shape;233;g3fba0930468_0_5"/>
          <p:cNvSpPr txBox="1"/>
          <p:nvPr/>
        </p:nvSpPr>
        <p:spPr>
          <a:xfrm>
            <a:off x="3886200" y="1568918"/>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HIGH-DIMENSIONALITY</a:t>
            </a:r>
            <a:endParaRPr i="0" sz="1350" u="none" cap="none" strike="noStrike">
              <a:solidFill>
                <a:schemeClr val="dk1"/>
              </a:solidFill>
              <a:latin typeface="Bebas Neue"/>
              <a:ea typeface="Bebas Neue"/>
              <a:cs typeface="Bebas Neue"/>
              <a:sym typeface="Bebas Neue"/>
            </a:endParaRPr>
          </a:p>
        </p:txBody>
      </p:sp>
      <p:sp>
        <p:nvSpPr>
          <p:cNvPr id="234" name="Google Shape;234;g3fba0930468_0_5"/>
          <p:cNvSpPr txBox="1"/>
          <p:nvPr/>
        </p:nvSpPr>
        <p:spPr>
          <a:xfrm>
            <a:off x="3410712" y="1980398"/>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Managed high-dimensional dummy variables while maintaining interpretability and avoiding sparse-feature issues.</a:t>
            </a:r>
            <a:endParaRPr b="0" i="0" sz="1000" u="none" cap="none" strike="noStrike">
              <a:solidFill>
                <a:schemeClr val="dk1"/>
              </a:solidFill>
              <a:latin typeface="Calibri"/>
              <a:ea typeface="Calibri"/>
              <a:cs typeface="Calibri"/>
              <a:sym typeface="Calibri"/>
            </a:endParaRPr>
          </a:p>
        </p:txBody>
      </p:sp>
      <p:sp>
        <p:nvSpPr>
          <p:cNvPr id="235" name="Google Shape;235;g3fba0930468_0_5"/>
          <p:cNvSpPr/>
          <p:nvPr/>
        </p:nvSpPr>
        <p:spPr>
          <a:xfrm>
            <a:off x="1915645" y="3029800"/>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ba0930468_0_5"/>
          <p:cNvSpPr/>
          <p:nvPr/>
        </p:nvSpPr>
        <p:spPr>
          <a:xfrm>
            <a:off x="2098525" y="3104396"/>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fba0930468_0_5"/>
          <p:cNvSpPr txBox="1"/>
          <p:nvPr/>
        </p:nvSpPr>
        <p:spPr>
          <a:xfrm>
            <a:off x="2098525" y="309525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8" name="Google Shape;238;g3fba0930468_0_5"/>
          <p:cNvSpPr txBox="1"/>
          <p:nvPr/>
        </p:nvSpPr>
        <p:spPr>
          <a:xfrm>
            <a:off x="2574013" y="3104396"/>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DATA LEAKAGE</a:t>
            </a:r>
            <a:endParaRPr i="0" sz="1350" u="none" cap="none" strike="noStrike">
              <a:solidFill>
                <a:schemeClr val="dk1"/>
              </a:solidFill>
              <a:latin typeface="Bebas Neue"/>
              <a:ea typeface="Bebas Neue"/>
              <a:cs typeface="Bebas Neue"/>
              <a:sym typeface="Bebas Neue"/>
            </a:endParaRPr>
          </a:p>
        </p:txBody>
      </p:sp>
      <p:sp>
        <p:nvSpPr>
          <p:cNvPr id="239" name="Google Shape;239;g3fba0930468_0_5"/>
          <p:cNvSpPr txBox="1"/>
          <p:nvPr/>
        </p:nvSpPr>
        <p:spPr>
          <a:xfrm>
            <a:off x="2098525" y="3515876"/>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Balanced preprocessing steps to avoid data leakage and ensure robust generalization.</a:t>
            </a:r>
            <a:endParaRPr b="0" i="0" sz="1000" u="none" cap="none" strike="noStrike">
              <a:solidFill>
                <a:schemeClr val="dk1"/>
              </a:solidFill>
              <a:latin typeface="Calibri"/>
              <a:ea typeface="Calibri"/>
              <a:cs typeface="Calibri"/>
              <a:sym typeface="Calibri"/>
            </a:endParaRPr>
          </a:p>
        </p:txBody>
      </p:sp>
      <p:sp>
        <p:nvSpPr>
          <p:cNvPr id="240" name="Google Shape;240;g3fba0930468_0_5"/>
          <p:cNvSpPr/>
          <p:nvPr/>
        </p:nvSpPr>
        <p:spPr>
          <a:xfrm>
            <a:off x="4640557" y="3029800"/>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fba0930468_0_5"/>
          <p:cNvSpPr/>
          <p:nvPr/>
        </p:nvSpPr>
        <p:spPr>
          <a:xfrm>
            <a:off x="4823437" y="3104396"/>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fba0930468_0_5"/>
          <p:cNvSpPr txBox="1"/>
          <p:nvPr/>
        </p:nvSpPr>
        <p:spPr>
          <a:xfrm>
            <a:off x="4823437" y="309525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43" name="Google Shape;243;g3fba0930468_0_5"/>
          <p:cNvSpPr txBox="1"/>
          <p:nvPr/>
        </p:nvSpPr>
        <p:spPr>
          <a:xfrm>
            <a:off x="5298925" y="3104396"/>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OVERFITTING</a:t>
            </a:r>
            <a:endParaRPr i="0" sz="1350" u="none" cap="none" strike="noStrike">
              <a:solidFill>
                <a:schemeClr val="dk1"/>
              </a:solidFill>
              <a:latin typeface="Bebas Neue"/>
              <a:ea typeface="Bebas Neue"/>
              <a:cs typeface="Bebas Neue"/>
              <a:sym typeface="Bebas Neue"/>
            </a:endParaRPr>
          </a:p>
        </p:txBody>
      </p:sp>
      <p:sp>
        <p:nvSpPr>
          <p:cNvPr id="244" name="Google Shape;244;g3fba0930468_0_5"/>
          <p:cNvSpPr txBox="1"/>
          <p:nvPr/>
        </p:nvSpPr>
        <p:spPr>
          <a:xfrm>
            <a:off x="4823437" y="3515876"/>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Handled overfitting across multiple models, learning how max_depth, subsample and regularization affect generalization.</a:t>
            </a:r>
            <a:endParaRPr b="0" i="0" sz="1000" u="none" cap="none" strike="noStrike">
              <a:solidFill>
                <a:schemeClr val="dk1"/>
              </a:solidFill>
              <a:latin typeface="Calibri"/>
              <a:ea typeface="Calibri"/>
              <a:cs typeface="Calibri"/>
              <a:sym typeface="Calibri"/>
            </a:endParaRPr>
          </a:p>
        </p:txBody>
      </p:sp>
      <p:sp>
        <p:nvSpPr>
          <p:cNvPr id="245" name="Google Shape;245;g3fba0930468_0_5"/>
          <p:cNvSpPr/>
          <p:nvPr/>
        </p:nvSpPr>
        <p:spPr>
          <a:xfrm>
            <a:off x="5952719" y="1494325"/>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fba0930468_0_5"/>
          <p:cNvSpPr/>
          <p:nvPr/>
        </p:nvSpPr>
        <p:spPr>
          <a:xfrm>
            <a:off x="6135599" y="1568921"/>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fba0930468_0_5"/>
          <p:cNvSpPr txBox="1"/>
          <p:nvPr/>
        </p:nvSpPr>
        <p:spPr>
          <a:xfrm>
            <a:off x="6135599" y="1559777"/>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48" name="Google Shape;248;g3fba0930468_0_5"/>
          <p:cNvSpPr txBox="1"/>
          <p:nvPr/>
        </p:nvSpPr>
        <p:spPr>
          <a:xfrm>
            <a:off x="6611087" y="1568921"/>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SEARCH INSTABILITY</a:t>
            </a:r>
            <a:endParaRPr i="0" sz="1350" u="none" cap="none" strike="noStrike">
              <a:solidFill>
                <a:schemeClr val="dk1"/>
              </a:solidFill>
              <a:latin typeface="Bebas Neue"/>
              <a:ea typeface="Bebas Neue"/>
              <a:cs typeface="Bebas Neue"/>
              <a:sym typeface="Bebas Neue"/>
            </a:endParaRPr>
          </a:p>
        </p:txBody>
      </p:sp>
      <p:sp>
        <p:nvSpPr>
          <p:cNvPr id="249" name="Google Shape;249;g3fba0930468_0_5"/>
          <p:cNvSpPr txBox="1"/>
          <p:nvPr/>
        </p:nvSpPr>
        <p:spPr>
          <a:xfrm>
            <a:off x="6135599" y="1980401"/>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lang="en-US" sz="1000">
                <a:solidFill>
                  <a:srgbClr val="D9D9D9"/>
                </a:solidFill>
                <a:latin typeface="Work Sans"/>
                <a:ea typeface="Work Sans"/>
                <a:cs typeface="Work Sans"/>
                <a:sym typeface="Work Sans"/>
              </a:rPr>
              <a:t>Even 50+ automated tests still picked a model that overfit — more search doesn't guarantee a better model. </a:t>
            </a:r>
            <a:endParaRPr b="0" i="0" sz="1000" u="none" cap="none" strike="noStrike">
              <a:solidFill>
                <a:schemeClr val="dk1"/>
              </a:solidFill>
              <a:latin typeface="Calibri"/>
              <a:ea typeface="Calibri"/>
              <a:cs typeface="Calibri"/>
              <a:sym typeface="Calibri"/>
            </a:endParaRPr>
          </a:p>
        </p:txBody>
      </p:sp>
      <p:sp>
        <p:nvSpPr>
          <p:cNvPr id="250" name="Google Shape;250;g3fba0930468_0_5"/>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8</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LEARNINGS</a:t>
            </a:r>
            <a:endParaRPr b="1" i="0" sz="1100" u="none" cap="none" strike="noStrike">
              <a:solidFill>
                <a:srgbClr val="BF9000"/>
              </a:solidFill>
              <a:latin typeface="Work Sans"/>
              <a:ea typeface="Work Sans"/>
              <a:cs typeface="Work Sans"/>
              <a:sym typeface="Work Sans"/>
            </a:endParaRPr>
          </a:p>
        </p:txBody>
      </p:sp>
      <p:sp>
        <p:nvSpPr>
          <p:cNvPr id="251" name="Google Shape;251;g3fba0930468_0_5"/>
          <p:cNvSpPr txBox="1"/>
          <p:nvPr/>
        </p:nvSpPr>
        <p:spPr>
          <a:xfrm>
            <a:off x="502923" y="450550"/>
            <a:ext cx="5306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CHALLENGES &amp; LEARNINGS</a:t>
            </a:r>
            <a:endParaRPr b="0" i="0" sz="2900" u="none" cap="none" strike="noStrike">
              <a:solidFill>
                <a:schemeClr val="dk1"/>
              </a:solidFill>
              <a:latin typeface="Calibri"/>
              <a:ea typeface="Calibri"/>
              <a:cs typeface="Calibri"/>
              <a:sym typeface="Calibri"/>
            </a:endParaRPr>
          </a:p>
        </p:txBody>
      </p:sp>
      <p:sp>
        <p:nvSpPr>
          <p:cNvPr id="252" name="Google Shape;252;g3fba0930468_0_5"/>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tmp/claude-0/-home-user-ML-Rotten-Tomato-Project/a57ab96b-d0eb-50cc-9cc4-88de4a48a829/scratchpad/work/assets/bg_gradient.png" id="258" name="Google Shape;258;p11"/>
          <p:cNvPicPr preferRelativeResize="0"/>
          <p:nvPr/>
        </p:nvPicPr>
        <p:blipFill rotWithShape="1">
          <a:blip r:embed="rId3">
            <a:alphaModFix/>
          </a:blip>
          <a:srcRect b="0" l="0" r="0" t="0"/>
          <a:stretch/>
        </p:blipFill>
        <p:spPr>
          <a:xfrm>
            <a:off x="-64008" y="-91440"/>
            <a:ext cx="9281160" cy="5321808"/>
          </a:xfrm>
          <a:prstGeom prst="rect">
            <a:avLst/>
          </a:prstGeom>
          <a:noFill/>
          <a:ln>
            <a:noFill/>
          </a:ln>
        </p:spPr>
      </p:pic>
      <p:sp>
        <p:nvSpPr>
          <p:cNvPr id="259" name="Google Shape;259;p11"/>
          <p:cNvSpPr txBox="1"/>
          <p:nvPr/>
        </p:nvSpPr>
        <p:spPr>
          <a:xfrm>
            <a:off x="1069848" y="1542623"/>
            <a:ext cx="6995100" cy="128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0"/>
              <a:buFont typeface="Bebas Neue"/>
              <a:buNone/>
            </a:pPr>
            <a:r>
              <a:rPr b="1" i="0" lang="en-US" sz="7200" u="none" cap="none" strike="noStrike">
                <a:solidFill>
                  <a:srgbClr val="FFFFFF"/>
                </a:solidFill>
                <a:latin typeface="Bebas Neue"/>
                <a:ea typeface="Bebas Neue"/>
                <a:cs typeface="Bebas Neue"/>
                <a:sym typeface="Bebas Neue"/>
              </a:rPr>
              <a:t>thank </a:t>
            </a:r>
            <a:r>
              <a:rPr b="1" i="0" lang="en-US" sz="7200" u="none" cap="none" strike="noStrike">
                <a:solidFill>
                  <a:srgbClr val="F83206"/>
                </a:solidFill>
                <a:latin typeface="Bebas Neue"/>
                <a:ea typeface="Bebas Neue"/>
                <a:cs typeface="Bebas Neue"/>
                <a:sym typeface="Bebas Neue"/>
              </a:rPr>
              <a:t>you!</a:t>
            </a:r>
            <a:endParaRPr b="0" i="0" sz="7200" u="none" cap="none" strike="noStrike">
              <a:solidFill>
                <a:schemeClr val="dk1"/>
              </a:solidFill>
              <a:latin typeface="Calibri"/>
              <a:ea typeface="Calibri"/>
              <a:cs typeface="Calibri"/>
              <a:sym typeface="Calibri"/>
            </a:endParaRPr>
          </a:p>
        </p:txBody>
      </p:sp>
      <p:sp>
        <p:nvSpPr>
          <p:cNvPr id="260" name="Google Shape;260;p11"/>
          <p:cNvSpPr txBox="1"/>
          <p:nvPr/>
        </p:nvSpPr>
        <p:spPr>
          <a:xfrm>
            <a:off x="1453896" y="2877647"/>
            <a:ext cx="6236100" cy="64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500"/>
              <a:buFont typeface="Work Sans"/>
              <a:buNone/>
            </a:pPr>
            <a:r>
              <a:rPr b="0" i="0" lang="en-US" sz="1500" u="none" cap="none" strike="noStrike">
                <a:solidFill>
                  <a:srgbClr val="D9D9D9"/>
                </a:solidFill>
                <a:latin typeface="Work Sans"/>
                <a:ea typeface="Work Sans"/>
                <a:cs typeface="Work Sans"/>
                <a:sym typeface="Work Sans"/>
              </a:rPr>
              <a:t>Rotten Tomatoes: A Machine Learning Model for </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9"/>
              </a:buClr>
              <a:buSzPts val="1500"/>
              <a:buFont typeface="Work Sans"/>
              <a:buNone/>
            </a:pPr>
            <a:r>
              <a:rPr b="0" i="0" lang="en-US" sz="1500" u="none" cap="none" strike="noStrike">
                <a:solidFill>
                  <a:srgbClr val="D9D9D9"/>
                </a:solidFill>
                <a:latin typeface="Work Sans"/>
                <a:ea typeface="Work Sans"/>
                <a:cs typeface="Work Sans"/>
                <a:sym typeface="Work Sans"/>
              </a:rPr>
              <a:t>Fresh vs Rotten Classification </a:t>
            </a:r>
            <a:endParaRPr b="0" i="0" sz="1500" u="none" cap="none" strike="noStrike">
              <a:solidFill>
                <a:schemeClr val="dk1"/>
              </a:solidFill>
              <a:latin typeface="Calibri"/>
              <a:ea typeface="Calibri"/>
              <a:cs typeface="Calibri"/>
              <a:sym typeface="Calibri"/>
            </a:endParaRPr>
          </a:p>
        </p:txBody>
      </p:sp>
      <p:sp>
        <p:nvSpPr>
          <p:cNvPr id="261" name="Google Shape;261;p11"/>
          <p:cNvSpPr txBox="1"/>
          <p:nvPr/>
        </p:nvSpPr>
        <p:spPr>
          <a:xfrm>
            <a:off x="1609344" y="3803904"/>
            <a:ext cx="5925312"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Ana Claudia Russo &amp; Jeronimo Cagliero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Ironhack, Data Analytics Bootcamp - Sep, 2026</a:t>
            </a:r>
            <a:endParaRPr b="0" i="0" sz="1000" u="none" cap="none" strike="noStrike">
              <a:solidFill>
                <a:schemeClr val="dk1"/>
              </a:solidFill>
              <a:latin typeface="Calibri"/>
              <a:ea typeface="Calibri"/>
              <a:cs typeface="Calibri"/>
              <a:sym typeface="Calibri"/>
            </a:endParaRPr>
          </a:p>
        </p:txBody>
      </p:sp>
      <p:pic>
        <p:nvPicPr>
          <p:cNvPr id="262" name="Google Shape;262;p11"/>
          <p:cNvPicPr preferRelativeResize="0"/>
          <p:nvPr/>
        </p:nvPicPr>
        <p:blipFill>
          <a:blip r:embed="rId4">
            <a:alphaModFix/>
          </a:blip>
          <a:stretch>
            <a:fillRect/>
          </a:stretch>
        </p:blipFill>
        <p:spPr>
          <a:xfrm>
            <a:off x="3904539" y="576243"/>
            <a:ext cx="1325724" cy="825550"/>
          </a:xfrm>
          <a:prstGeom prst="rect">
            <a:avLst/>
          </a:prstGeom>
          <a:noFill/>
          <a:ln>
            <a:noFill/>
          </a:ln>
        </p:spPr>
      </p:pic>
      <p:sp>
        <p:nvSpPr>
          <p:cNvPr id="263" name="Google Shape;263;p11"/>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2026-09-17T18:25:57Z</dcterms:created>
  <dc:creator>PptxGenJS</dc:creator>
</cp:coreProperties>
</file>