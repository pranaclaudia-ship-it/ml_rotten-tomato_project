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Bebas Neue"/>
      <p:regular r:id="rId17"/>
    </p:embeddedFont>
    <p:embeddedFont>
      <p:font typeface="Work Sans"/>
      <p:regular r:id="rId18"/>
      <p:bold r:id="rId19"/>
      <p:italic r:id="rId20"/>
      <p:boldItalic r:id="rId21"/>
    </p:embeddedFon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-italic.fntdata"/><Relationship Id="rId22" Type="http://schemas.openxmlformats.org/officeDocument/2006/relationships/font" Target="fonts/RobotoMono-regular.fntdata"/><Relationship Id="rId21" Type="http://schemas.openxmlformats.org/officeDocument/2006/relationships/font" Target="fonts/WorkSans-boldItalic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BebasNeue-regular.fntdata"/><Relationship Id="rId16" Type="http://schemas.openxmlformats.org/officeDocument/2006/relationships/slide" Target="slides/slide11.xml"/><Relationship Id="rId19" Type="http://schemas.openxmlformats.org/officeDocument/2006/relationships/font" Target="fonts/WorkSans-bold.fntdata"/><Relationship Id="rId18" Type="http://schemas.openxmlformats.org/officeDocument/2006/relationships/font" Target="fonts/Work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b6a17a55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b6a17a55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b6a17a55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b6a17a55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Work Sans"/>
              <a:buChar char="●"/>
            </a:pPr>
            <a:r>
              <a:rPr lang="pt-BR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Rotten Tomatoes is a popular website that collects movie ratings from both critics and audiences.</a:t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Work Sans"/>
              <a:buChar char="●"/>
            </a:pPr>
            <a:r>
              <a:rPr lang="pt-BR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In this project, we use the rotten_tomatoes_movies.csv dataset, which is the most complete and complex file available. It includes detailed information about each movie, such as title, description, genres, cast, runtime, audience score, and critics’ score. </a:t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Work Sans"/>
              <a:buChar char="●"/>
            </a:pPr>
            <a:r>
              <a:rPr lang="pt-BR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Although the data was scraped over several days in October 2020, the dataset still provides strong and rich information for building Machine Learning models.</a:t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Work Sans"/>
              <a:buChar char="●"/>
            </a:pPr>
            <a:r>
              <a:rPr lang="pt-BR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This project explores how machine learning can classify movies as Fresh or Rotten based on metadata and aggregated audience/critic information.</a:t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Work Sans"/>
              <a:buChar char="●"/>
            </a:pPr>
            <a:r>
              <a:rPr lang="pt-BR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The core ML problem addressed is a binary classification task, where the model learns patterns from historical movie data to predict the final rating category.</a:t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This project explores how machine learning can classify movies as Fresh or Rotten based on metadata and aggregated audience/critic information.</a:t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The core ML problem addressed is a binary classification task, where the model learns patterns from historical movie data to predict the final rating category.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b6a17a55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b6a17a55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Dataset original com 17712 rows x 22 columns</a:t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Once we have a robust data frame, we used “audience_count” column as a popularity indicator and keep only the rows with more than 3500 reviews</a:t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For the columns selected as features, we applied some categorization and clustering process, to turn the data ready for Machine Learning assembles</a:t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For categorization, due the big number of values per raw, we used AI support to help to define main values on the classification </a:t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For the clustering, </a:t>
            </a:r>
            <a:r>
              <a:rPr lang="pt-BR" sz="1050">
                <a:solidFill>
                  <a:schemeClr val="dk1"/>
                </a:solidFill>
                <a:highlight>
                  <a:srgbClr val="FFFFFF"/>
                </a:highlight>
              </a:rPr>
              <a:t>K-Means was used to group actors based on three variables:</a:t>
            </a:r>
            <a:r>
              <a:rPr lang="pt-BR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50">
                <a:solidFill>
                  <a:schemeClr val="dk1"/>
                </a:solidFill>
                <a:highlight>
                  <a:srgbClr val="FFFFFF"/>
                </a:highlight>
              </a:rPr>
              <a:t>Audience Rating:</a:t>
            </a:r>
            <a:r>
              <a:rPr lang="pt-BR" sz="1050">
                <a:solidFill>
                  <a:schemeClr val="dk1"/>
                </a:solidFill>
                <a:highlight>
                  <a:srgbClr val="FFFFFF"/>
                </a:highlight>
              </a:rPr>
              <a:t> weighted average audience rating across their movies.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50">
                <a:solidFill>
                  <a:schemeClr val="dk1"/>
                </a:solidFill>
                <a:highlight>
                  <a:srgbClr val="FFFFFF"/>
                </a:highlight>
              </a:rPr>
              <a:t>Audience Count:</a:t>
            </a:r>
            <a:r>
              <a:rPr lang="pt-BR" sz="1050">
                <a:solidFill>
                  <a:schemeClr val="dk1"/>
                </a:solidFill>
                <a:highlight>
                  <a:srgbClr val="FFFFFF"/>
                </a:highlight>
              </a:rPr>
              <a:t> total number of audience ratings accumulated by their movies.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50">
                <a:solidFill>
                  <a:schemeClr val="dk1"/>
                </a:solidFill>
                <a:highlight>
                  <a:srgbClr val="FFFFFF"/>
                </a:highlight>
              </a:rPr>
              <a:t>Movie Count:</a:t>
            </a:r>
            <a:r>
              <a:rPr lang="pt-BR" sz="1050">
                <a:solidFill>
                  <a:schemeClr val="dk1"/>
                </a:solidFill>
                <a:highlight>
                  <a:srgbClr val="FFFFFF"/>
                </a:highlight>
              </a:rPr>
              <a:t> number of unique movies associated with each production company.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For the target column, “tomatometer_status”, we transform the column to a binary classification, where:</a:t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# Fresh: A film with 60% or more positive reviews from critics</a:t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# Rotten: A film with less than 60% positive reviews from critics</a:t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After all the preparation, we defined our final dataframe with 8934 rows and 10 main columns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b6a17a55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b6a17a55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6a17a557_2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6a17a557_2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</a:rPr>
              <a:t>Decision Tree — Feature Exploration (Rotten vs. Fresh)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chemeClr val="dk1"/>
                </a:solidFill>
              </a:rPr>
              <a:t>Before testing other ML models, a Decision Tree Classifier was applied to explore which features best separate Fresh from Rotten movies.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chemeClr val="dk1"/>
                </a:solidFill>
              </a:rPr>
              <a:t>Root split: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directors_cluster</a:t>
            </a:r>
            <a:r>
              <a:rPr lang="pt-BR">
                <a:solidFill>
                  <a:schemeClr val="dk1"/>
                </a:solidFill>
              </a:rPr>
              <a:t> — the single strongest early predictor, separating the dataset almost evenly (46.6% Rotten / 53.4% Fresh).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chemeClr val="dk1"/>
                </a:solidFill>
              </a:rPr>
              <a:t>Subsequent key splits: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authors_cluster</a:t>
            </a:r>
            <a:r>
              <a:rPr lang="pt-BR">
                <a:solidFill>
                  <a:schemeClr val="dk1"/>
                </a:solidFill>
              </a:rPr>
              <a:t>,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actors_cluster</a:t>
            </a:r>
            <a:r>
              <a:rPr lang="pt-BR">
                <a:solidFill>
                  <a:schemeClr val="dk1"/>
                </a:solidFill>
              </a:rPr>
              <a:t>, and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content_group</a:t>
            </a:r>
            <a:r>
              <a:rPr lang="pt-BR">
                <a:solidFill>
                  <a:schemeClr val="dk1"/>
                </a:solidFill>
              </a:rPr>
              <a:t> (Unknown), showing that cast/crew clustering features carry strong predictive power.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chemeClr val="dk1"/>
                </a:solidFill>
              </a:rPr>
              <a:t>Genre-specific splits (e.g., Drama, Family, Sci-Fi) and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runtime</a:t>
            </a:r>
            <a:r>
              <a:rPr lang="pt-BR">
                <a:solidFill>
                  <a:schemeClr val="dk1"/>
                </a:solidFill>
              </a:rPr>
              <a:t> appear deeper in the tree, refining predictions within specific subgroups.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streaming_release_date</a:t>
            </a:r>
            <a:r>
              <a:rPr lang="pt-BR">
                <a:solidFill>
                  <a:schemeClr val="dk1"/>
                </a:solidFill>
              </a:rPr>
              <a:t> also emerged as a relevant split, suggesting release timing has some influence on ratings.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chemeClr val="dk1"/>
                </a:solidFill>
              </a:rPr>
              <a:t>The tree confirms that clustering-based features (directors, authors, actors) are the most informative for classification — validating the feature engineering approach used earlier.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6a17a55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6a17a55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b6a17a557_2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b6a17a557_2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b6a17a55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b6a17a55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6a17a55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6a17a55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How the Model Can Be Applied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chemeClr val="dk1"/>
                </a:solidFill>
              </a:rPr>
              <a:t>The final XGBoost model can support </a:t>
            </a:r>
            <a:r>
              <a:rPr b="1" lang="pt-BR">
                <a:solidFill>
                  <a:schemeClr val="dk1"/>
                </a:solidFill>
              </a:rPr>
              <a:t>content strategy decisions</a:t>
            </a:r>
            <a:r>
              <a:rPr lang="pt-BR">
                <a:solidFill>
                  <a:schemeClr val="dk1"/>
                </a:solidFill>
              </a:rPr>
              <a:t> for streaming platforms by predicting whether a movie is likely to be </a:t>
            </a:r>
            <a:r>
              <a:rPr i="1" lang="pt-BR">
                <a:solidFill>
                  <a:schemeClr val="dk1"/>
                </a:solidFill>
              </a:rPr>
              <a:t>Fresh</a:t>
            </a:r>
            <a:r>
              <a:rPr lang="pt-BR">
                <a:solidFill>
                  <a:schemeClr val="dk1"/>
                </a:solidFill>
              </a:rPr>
              <a:t> or </a:t>
            </a:r>
            <a:r>
              <a:rPr i="1" lang="pt-BR">
                <a:solidFill>
                  <a:schemeClr val="dk1"/>
                </a:solidFill>
              </a:rPr>
              <a:t>Rotten</a:t>
            </a:r>
            <a:r>
              <a:rPr lang="pt-BR">
                <a:solidFill>
                  <a:schemeClr val="dk1"/>
                </a:solidFill>
              </a:rPr>
              <a:t> before release.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chemeClr val="dk1"/>
                </a:solidFill>
              </a:rPr>
              <a:t>Studios and marketing teams can use these predictions to </a:t>
            </a:r>
            <a:r>
              <a:rPr b="1" lang="pt-BR">
                <a:solidFill>
                  <a:schemeClr val="dk1"/>
                </a:solidFill>
              </a:rPr>
              <a:t>optimize promotional investment</a:t>
            </a:r>
            <a:r>
              <a:rPr lang="pt-BR">
                <a:solidFill>
                  <a:schemeClr val="dk1"/>
                </a:solidFill>
              </a:rPr>
              <a:t>, </a:t>
            </a:r>
            <a:r>
              <a:rPr b="1" lang="pt-BR">
                <a:solidFill>
                  <a:schemeClr val="dk1"/>
                </a:solidFill>
              </a:rPr>
              <a:t>target audiences</a:t>
            </a:r>
            <a:r>
              <a:rPr lang="pt-BR">
                <a:solidFill>
                  <a:schemeClr val="dk1"/>
                </a:solidFill>
              </a:rPr>
              <a:t>, and </a:t>
            </a:r>
            <a:r>
              <a:rPr b="1" lang="pt-BR">
                <a:solidFill>
                  <a:schemeClr val="dk1"/>
                </a:solidFill>
              </a:rPr>
              <a:t>adjust release timing</a:t>
            </a:r>
            <a:r>
              <a:rPr lang="pt-BR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chemeClr val="dk1"/>
                </a:solidFill>
              </a:rPr>
              <a:t>Platforms can leverage the model to </a:t>
            </a:r>
            <a:r>
              <a:rPr b="1" lang="pt-BR">
                <a:solidFill>
                  <a:schemeClr val="dk1"/>
                </a:solidFill>
              </a:rPr>
              <a:t>prioritize acquisitions</a:t>
            </a:r>
            <a:r>
              <a:rPr lang="pt-BR">
                <a:solidFill>
                  <a:schemeClr val="dk1"/>
                </a:solidFill>
              </a:rPr>
              <a:t>, selecting movies with higher predicted audience approval.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chemeClr val="dk1"/>
                </a:solidFill>
              </a:rPr>
              <a:t>The model demonstrates how structured metadata (genres, clusters, release info) can be transformed into </a:t>
            </a:r>
            <a:r>
              <a:rPr b="1" lang="pt-BR">
                <a:solidFill>
                  <a:schemeClr val="dk1"/>
                </a:solidFill>
              </a:rPr>
              <a:t>actionable insights</a:t>
            </a:r>
            <a:r>
              <a:rPr lang="pt-BR">
                <a:solidFill>
                  <a:schemeClr val="dk1"/>
                </a:solidFill>
              </a:rPr>
              <a:t> for entertainment analytics.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</a:rPr>
              <a:t>Potential Impact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chemeClr val="dk1"/>
                </a:solidFill>
              </a:rPr>
              <a:t>Helps reduce financial risk by offering </a:t>
            </a:r>
            <a:r>
              <a:rPr b="1" lang="pt-BR">
                <a:solidFill>
                  <a:schemeClr val="dk1"/>
                </a:solidFill>
              </a:rPr>
              <a:t>early performance expectations</a:t>
            </a:r>
            <a:r>
              <a:rPr lang="pt-BR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chemeClr val="dk1"/>
                </a:solidFill>
              </a:rPr>
              <a:t>Supports </a:t>
            </a:r>
            <a:r>
              <a:rPr b="1" lang="pt-BR">
                <a:solidFill>
                  <a:schemeClr val="dk1"/>
                </a:solidFill>
              </a:rPr>
              <a:t>data‑driven decision‑making</a:t>
            </a:r>
            <a:r>
              <a:rPr lang="pt-BR">
                <a:solidFill>
                  <a:schemeClr val="dk1"/>
                </a:solidFill>
              </a:rPr>
              <a:t>, replacing intuition‑based choices with measurable predictions.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chemeClr val="dk1"/>
                </a:solidFill>
              </a:rPr>
              <a:t>Enhances user experience by enabling platforms to </a:t>
            </a:r>
            <a:r>
              <a:rPr b="1" lang="pt-BR">
                <a:solidFill>
                  <a:schemeClr val="dk1"/>
                </a:solidFill>
              </a:rPr>
              <a:t>recommend higher‑quality content</a:t>
            </a:r>
            <a:r>
              <a:rPr lang="pt-BR">
                <a:solidFill>
                  <a:schemeClr val="dk1"/>
                </a:solidFill>
              </a:rPr>
              <a:t> more effectively.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</a:rPr>
              <a:t>Ethical Considerations &amp; Limitations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chemeClr val="dk1"/>
                </a:solidFill>
              </a:rPr>
              <a:t>Predictions rely on historical patterns and may </a:t>
            </a:r>
            <a:r>
              <a:rPr b="1" lang="pt-BR">
                <a:solidFill>
                  <a:schemeClr val="dk1"/>
                </a:solidFill>
              </a:rPr>
              <a:t>reinforce existing industry biases</a:t>
            </a:r>
            <a:r>
              <a:rPr lang="pt-BR">
                <a:solidFill>
                  <a:schemeClr val="dk1"/>
                </a:solidFill>
              </a:rPr>
              <a:t> (e.g., genre stereotypes, production company influence).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chemeClr val="dk1"/>
                </a:solidFill>
              </a:rPr>
              <a:t>The model does not account for </a:t>
            </a:r>
            <a:r>
              <a:rPr b="1" lang="pt-BR">
                <a:solidFill>
                  <a:schemeClr val="dk1"/>
                </a:solidFill>
              </a:rPr>
              <a:t>creative factors</a:t>
            </a:r>
            <a:r>
              <a:rPr lang="pt-BR">
                <a:solidFill>
                  <a:schemeClr val="dk1"/>
                </a:solidFill>
              </a:rPr>
              <a:t> such as script quality, acting performance, or cultural trends.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chemeClr val="dk1"/>
                </a:solidFill>
              </a:rPr>
              <a:t>Risk of </a:t>
            </a:r>
            <a:r>
              <a:rPr b="1" lang="pt-BR">
                <a:solidFill>
                  <a:schemeClr val="dk1"/>
                </a:solidFill>
              </a:rPr>
              <a:t>misinterpretation</a:t>
            </a:r>
            <a:r>
              <a:rPr lang="pt-BR">
                <a:solidFill>
                  <a:schemeClr val="dk1"/>
                </a:solidFill>
              </a:rPr>
              <a:t>: predictions should guide decisions, not replace human judgment.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chemeClr val="dk1"/>
                </a:solidFill>
              </a:rPr>
              <a:t>Requires continuous updates to remain relevant as audience preferences evolve.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b6a17a55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b6a17a55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b6a17a557_2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b6a17a557_2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3775" y="-89100"/>
            <a:ext cx="9207774" cy="530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072350" y="1730200"/>
            <a:ext cx="69993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3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PREDICTING THE</a:t>
            </a:r>
            <a:r>
              <a:rPr b="1" lang="pt-BR" sz="5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rPr>
              <a:t> </a:t>
            </a:r>
            <a:r>
              <a:rPr b="1" lang="pt-BR" sz="5300">
                <a:solidFill>
                  <a:srgbClr val="F83206"/>
                </a:solidFill>
                <a:latin typeface="Bebas Neue"/>
                <a:ea typeface="Bebas Neue"/>
                <a:cs typeface="Bebas Neue"/>
                <a:sym typeface="Bebas Neue"/>
              </a:rPr>
              <a:t>TOMATOMETER</a:t>
            </a:r>
            <a:endParaRPr b="1" sz="5300">
              <a:solidFill>
                <a:srgbClr val="F83206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358150" y="1333476"/>
            <a:ext cx="442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3FAC4F"/>
                </a:solidFill>
                <a:latin typeface="Bebas Neue"/>
                <a:ea typeface="Bebas Neue"/>
                <a:cs typeface="Bebas Neue"/>
                <a:sym typeface="Bebas Neue"/>
              </a:rPr>
              <a:t>MACHINE LEARNING PROJECT</a:t>
            </a:r>
            <a:endParaRPr sz="1700">
              <a:solidFill>
                <a:srgbClr val="3FAC4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608900" y="3803566"/>
            <a:ext cx="59262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000">
                <a:solidFill>
                  <a:srgbClr val="B7B7B7"/>
                </a:solidFill>
                <a:latin typeface="Work Sans"/>
                <a:ea typeface="Work Sans"/>
                <a:cs typeface="Work Sans"/>
                <a:sym typeface="Work Sans"/>
              </a:rPr>
              <a:t>Ana Claudia Russo &amp; Jeronimo Cagliero</a:t>
            </a:r>
            <a:endParaRPr i="1" sz="1000">
              <a:solidFill>
                <a:srgbClr val="B7B7B7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000">
                <a:solidFill>
                  <a:srgbClr val="B7B7B7"/>
                </a:solidFill>
                <a:latin typeface="Work Sans"/>
                <a:ea typeface="Work Sans"/>
                <a:cs typeface="Work Sans"/>
                <a:sym typeface="Work Sans"/>
              </a:rPr>
              <a:t>Ironhack, Data Analytics Bootcamp - Sep, 2026</a:t>
            </a:r>
            <a:endParaRPr i="1" sz="1000">
              <a:solidFill>
                <a:srgbClr val="B7B7B7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453350" y="2731065"/>
            <a:ext cx="623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D9D9D9"/>
                </a:solidFill>
                <a:latin typeface="Work Sans"/>
                <a:ea typeface="Work Sans"/>
                <a:cs typeface="Work Sans"/>
                <a:sym typeface="Work Sans"/>
              </a:rPr>
              <a:t>Rotten Tomatoes Case: A Machine Learning Model for </a:t>
            </a:r>
            <a:endParaRPr b="1" sz="1100">
              <a:solidFill>
                <a:srgbClr val="D9D9D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D9D9D9"/>
                </a:solidFill>
                <a:latin typeface="Work Sans"/>
                <a:ea typeface="Work Sans"/>
                <a:cs typeface="Work Sans"/>
                <a:sym typeface="Work Sans"/>
              </a:rPr>
              <a:t>Fresh vs Rotten Classification </a:t>
            </a:r>
            <a:endParaRPr b="1" sz="1100">
              <a:solidFill>
                <a:srgbClr val="D9D9D9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59" name="Google Shape;59;p13" title="icone-splat-vermelh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8800" y="683383"/>
            <a:ext cx="606400" cy="6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>
            <a:off x="-31047" y="-206982"/>
            <a:ext cx="9253250" cy="6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248978" y="226000"/>
            <a:ext cx="219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25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b="1" lang="pt-BR" spc="-30" sz="2600">
                <a:solidFill>
                  <a:srgbClr val="CC0000"/>
                </a:solidFill>
                <a:latin typeface="Bebas Neue"/>
                <a:ea typeface="Bebas Neue"/>
                <a:cs typeface="Bebas Neue"/>
                <a:sym typeface="Bebas Neue"/>
              </a:rPr>
              <a:t>PROJECT OVERVIEW </a:t>
            </a:r>
            <a:endParaRPr b="1" sz="3200">
              <a:solidFill>
                <a:srgbClr val="CC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1543184" y="1519078"/>
            <a:ext cx="2980200" cy="3159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 cap="flat" cmpd="sng" w="28575">
            <a:solidFill>
              <a:srgbClr val="3FAC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1842754" y="1838009"/>
            <a:ext cx="24183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Source:</a:t>
            </a: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Rotten Tomatoes is website that aggregates movie ratings from critics and audiences worldwide.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Dataset: </a:t>
            </a:r>
            <a:r>
              <a:rPr b="1" i="1" lang="pt-BR" sz="1100">
                <a:solidFill>
                  <a:srgbClr val="3FAC4F"/>
                </a:solidFill>
                <a:latin typeface="Work Sans"/>
                <a:ea typeface="Work Sans"/>
                <a:cs typeface="Work Sans"/>
                <a:sym typeface="Work Sans"/>
              </a:rPr>
              <a:t>rotten_tomatoes_movies.csv</a:t>
            </a: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 — title, genre, cast, runtime, audience &amp; critics' scores (scraped Oct 2020).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4675813" y="1519078"/>
            <a:ext cx="2980200" cy="3159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 cap="flat" cmpd="sng" w="28575">
            <a:solidFill>
              <a:srgbClr val="F832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4956763" y="1784880"/>
            <a:ext cx="24183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Goal:</a:t>
            </a: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 Predict whether a movie is </a:t>
            </a:r>
            <a:r>
              <a:rPr i="1"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Fresh</a:t>
            </a: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 or </a:t>
            </a:r>
            <a:r>
              <a:rPr i="1"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Rotten</a:t>
            </a: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 using ML, based on metadata and audience/critic signals.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ML problem:</a:t>
            </a: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 binary classification, trained on historical rating patterns.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Why it matters: </a:t>
            </a: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reveals which factors drive critical reception — valuable for studios, marketing, and streaming platforms.</a:t>
            </a:r>
            <a:endParaRPr sz="12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992882" y="1075611"/>
            <a:ext cx="2080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3FAC4F"/>
                </a:solidFill>
                <a:latin typeface="Bebas Neue"/>
                <a:ea typeface="Bebas Neue"/>
                <a:cs typeface="Bebas Neue"/>
                <a:sym typeface="Bebas Neue"/>
              </a:rPr>
              <a:t>THE DATASET</a:t>
            </a:r>
            <a:endParaRPr sz="1900">
              <a:solidFill>
                <a:srgbClr val="3FAC4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5125521" y="1075619"/>
            <a:ext cx="2080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F83206"/>
                </a:solidFill>
                <a:latin typeface="Bebas Neue"/>
                <a:ea typeface="Bebas Neue"/>
                <a:cs typeface="Bebas Neue"/>
                <a:sym typeface="Bebas Neue"/>
              </a:rPr>
              <a:t>THE GOAL</a:t>
            </a:r>
            <a:endParaRPr sz="1900">
              <a:solidFill>
                <a:srgbClr val="F83206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72" name="Google Shape;72;p14"/>
          <p:cNvCxnSpPr/>
          <p:nvPr/>
        </p:nvCxnSpPr>
        <p:spPr>
          <a:xfrm>
            <a:off x="-334175" y="751350"/>
            <a:ext cx="3246900" cy="0"/>
          </a:xfrm>
          <a:prstGeom prst="straightConnector1">
            <a:avLst/>
          </a:prstGeom>
          <a:noFill/>
          <a:ln cap="flat" cmpd="sng" w="19050">
            <a:solidFill>
              <a:srgbClr val="CF0000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 b="0" l="-120520" r="120520" t="0"/>
          <a:stretch/>
        </p:blipFill>
        <p:spPr>
          <a:xfrm>
            <a:off x="6836450" y="3284846"/>
            <a:ext cx="687643" cy="58750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248983" y="233014"/>
            <a:ext cx="623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25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b="1" lang="pt-BR" spc="-30" sz="2600">
                <a:solidFill>
                  <a:srgbClr val="CC0000"/>
                </a:solidFill>
                <a:latin typeface="Bebas Neue"/>
                <a:ea typeface="Bebas Neue"/>
                <a:cs typeface="Bebas Neue"/>
                <a:sym typeface="Bebas Neue"/>
              </a:rPr>
              <a:t>data selection and preparation</a:t>
            </a:r>
            <a:endParaRPr b="1" sz="3200">
              <a:solidFill>
                <a:srgbClr val="CC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1234475" y="2463700"/>
            <a:ext cx="72114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Original dataset: 17,712 rows × 22 columns.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Filtered by popularity: kept only movies with audience_count &gt; 3,500 reviews.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Categorized high-cardinality features with AI support to define main value groupings.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Applied K-Means clustering to group actors/production companies by: audience rating (weighted avg), audience count, and movie count.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Target column (tomatometer_status) converted to binary: Fresh (≥60% positive critic reviews) vs. Rotten (&lt;60%).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Final dataset: 8,934 rows × 10 main columns.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1322854" y="1131300"/>
            <a:ext cx="2279700" cy="99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" name="Google Shape;81;p15"/>
          <p:cNvCxnSpPr/>
          <p:nvPr/>
        </p:nvCxnSpPr>
        <p:spPr>
          <a:xfrm>
            <a:off x="-334175" y="751350"/>
            <a:ext cx="4300500" cy="0"/>
          </a:xfrm>
          <a:prstGeom prst="straightConnector1">
            <a:avLst/>
          </a:prstGeom>
          <a:noFill/>
          <a:ln cap="flat" cmpd="sng" w="19050">
            <a:solidFill>
              <a:srgbClr val="CF0000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2" name="Google Shape;82;p15"/>
          <p:cNvSpPr txBox="1"/>
          <p:nvPr/>
        </p:nvSpPr>
        <p:spPr>
          <a:xfrm>
            <a:off x="1634254" y="1153485"/>
            <a:ext cx="165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666666"/>
                </a:solidFill>
                <a:latin typeface="Work Sans"/>
                <a:ea typeface="Work Sans"/>
                <a:cs typeface="Work Sans"/>
                <a:sym typeface="Work Sans"/>
              </a:rPr>
              <a:t>RAW DATA</a:t>
            </a:r>
            <a:endParaRPr b="1" sz="1200">
              <a:solidFill>
                <a:srgbClr val="666666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666666"/>
                </a:solidFill>
                <a:latin typeface="Work Sans"/>
                <a:ea typeface="Work Sans"/>
                <a:cs typeface="Work Sans"/>
                <a:sym typeface="Work Sans"/>
              </a:rPr>
              <a:t>17,712 rows</a:t>
            </a:r>
            <a:endParaRPr b="1" sz="1800">
              <a:solidFill>
                <a:srgbClr val="666666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666666"/>
                </a:solidFill>
                <a:latin typeface="Work Sans"/>
                <a:ea typeface="Work Sans"/>
                <a:cs typeface="Work Sans"/>
                <a:sym typeface="Work Sans"/>
              </a:rPr>
              <a:t>x 22 columns</a:t>
            </a:r>
            <a:endParaRPr sz="1200">
              <a:solidFill>
                <a:srgbClr val="666666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5548978" y="1109525"/>
            <a:ext cx="2279700" cy="996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5860378" y="1153485"/>
            <a:ext cx="165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3FAC4F"/>
                </a:solidFill>
                <a:latin typeface="Work Sans"/>
                <a:ea typeface="Work Sans"/>
                <a:cs typeface="Work Sans"/>
                <a:sym typeface="Work Sans"/>
              </a:rPr>
              <a:t>FINAL DATASET</a:t>
            </a:r>
            <a:endParaRPr b="1" sz="1200">
              <a:solidFill>
                <a:srgbClr val="3FAC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8</a:t>
            </a:r>
            <a:r>
              <a:rPr b="1" lang="pt-BR" sz="18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,934 rows</a:t>
            </a:r>
            <a:endParaRPr b="1" sz="18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x 10 main columns</a:t>
            </a:r>
            <a:endParaRPr sz="12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85" name="Google Shape;85;p15"/>
          <p:cNvCxnSpPr/>
          <p:nvPr/>
        </p:nvCxnSpPr>
        <p:spPr>
          <a:xfrm>
            <a:off x="3822853" y="1629300"/>
            <a:ext cx="1561200" cy="0"/>
          </a:xfrm>
          <a:prstGeom prst="straightConnector1">
            <a:avLst/>
          </a:prstGeom>
          <a:noFill/>
          <a:ln cap="flat" cmpd="sng" w="28575">
            <a:solidFill>
              <a:srgbClr val="BF9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" name="Google Shape;86;p15"/>
          <p:cNvSpPr txBox="1"/>
          <p:nvPr/>
        </p:nvSpPr>
        <p:spPr>
          <a:xfrm>
            <a:off x="7828675" y="748175"/>
            <a:ext cx="1315200" cy="17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34275" y="856350"/>
            <a:ext cx="1315200" cy="17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3209847" y="1287744"/>
            <a:ext cx="273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BF9000"/>
                </a:solidFill>
                <a:latin typeface="Work Sans"/>
                <a:ea typeface="Work Sans"/>
                <a:cs typeface="Work Sans"/>
                <a:sym typeface="Work Sans"/>
              </a:rPr>
              <a:t>filter - categorize - cluster</a:t>
            </a:r>
            <a:endParaRPr b="1" sz="1000">
              <a:solidFill>
                <a:srgbClr val="BF9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478170" y="478199"/>
            <a:ext cx="623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25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b="1" lang="pt-BR" spc="-30" sz="2600">
                <a:solidFill>
                  <a:srgbClr val="CC0000"/>
                </a:solidFill>
                <a:highlight>
                  <a:schemeClr val="lt1"/>
                </a:highlight>
                <a:latin typeface="Bebas Neue"/>
                <a:ea typeface="Bebas Neue"/>
                <a:cs typeface="Bebas Neue"/>
                <a:sym typeface="Bebas Neue"/>
              </a:rPr>
              <a:t>feature engineering and selection</a:t>
            </a:r>
            <a:endParaRPr b="1" sz="3200">
              <a:solidFill>
                <a:srgbClr val="CC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888450" y="1251626"/>
            <a:ext cx="72885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Feature Engineering Process </a:t>
            </a:r>
            <a:endParaRPr b="1" sz="13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Applied Train/Test Split with stratification to preserve class balance before any transformation.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Converted all categorical variables using One‑Hot Encoding, ensuring consistent dummy columns across train and test sets.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Normalized numerical features (e.g., </a:t>
            </a:r>
            <a:r>
              <a:rPr i="1"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runtime</a:t>
            </a: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) using MinMaxScaler to improve model stability.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Reindexed the test set to match training feature columns, preventing feature mismatch errors during prediction.</a:t>
            </a:r>
            <a:endParaRPr sz="18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Feature Selection Approach</a:t>
            </a:r>
            <a:endParaRPr b="1" sz="13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Removed non‑predictive or leakage‑prone columns (e.g., </a:t>
            </a:r>
            <a:r>
              <a:rPr i="1"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movie_title</a:t>
            </a: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).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Selected features based on domain relevance (metadata, genres, clusters, release information).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Ensured all engineered features aligned with the model’s expected input structure.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 rotWithShape="1">
          <a:blip r:embed="rId3">
            <a:alphaModFix/>
          </a:blip>
          <a:srcRect b="35123" l="17079" r="16387" t="35496"/>
          <a:stretch/>
        </p:blipFill>
        <p:spPr>
          <a:xfrm>
            <a:off x="7109193" y="4108827"/>
            <a:ext cx="1752800" cy="77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/>
        </p:nvSpPr>
        <p:spPr>
          <a:xfrm>
            <a:off x="478170" y="478199"/>
            <a:ext cx="623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25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pt-BR" spc="-30" sz="2600">
                <a:solidFill>
                  <a:srgbClr val="CC0000"/>
                </a:solidFill>
                <a:highlight>
                  <a:schemeClr val="lt1"/>
                </a:highlight>
                <a:latin typeface="Bebas Neue"/>
                <a:ea typeface="Bebas Neue"/>
                <a:cs typeface="Bebas Neue"/>
                <a:sym typeface="Bebas Neue"/>
              </a:rPr>
              <a:t>DECISION TREE | </a:t>
            </a:r>
            <a:r>
              <a:rPr lang="pt-BR" sz="2600">
                <a:solidFill>
                  <a:srgbClr val="CC0000"/>
                </a:solidFill>
                <a:latin typeface="Bebas Neue"/>
                <a:ea typeface="Bebas Neue"/>
                <a:cs typeface="Bebas Neue"/>
                <a:sym typeface="Bebas Neue"/>
              </a:rPr>
              <a:t>FEATURE validation</a:t>
            </a:r>
            <a:endParaRPr sz="2600">
              <a:solidFill>
                <a:srgbClr val="CC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 rotWithShape="1">
          <a:blip r:embed="rId3">
            <a:alphaModFix/>
          </a:blip>
          <a:srcRect b="35123" l="17079" r="16387" t="35496"/>
          <a:stretch/>
        </p:blipFill>
        <p:spPr>
          <a:xfrm>
            <a:off x="7109193" y="4108827"/>
            <a:ext cx="1752800" cy="77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966300" y="1400525"/>
            <a:ext cx="72114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rgbClr val="666666"/>
                </a:solidFill>
                <a:latin typeface="Work Sans"/>
                <a:ea typeface="Work Sans"/>
                <a:cs typeface="Work Sans"/>
                <a:sym typeface="Work Sans"/>
              </a:rPr>
              <a:t>A Decision Tree Classifier was used to validate which features best separate Fresh from Rotten movies</a:t>
            </a:r>
            <a:endParaRPr sz="1100">
              <a:solidFill>
                <a:srgbClr val="666666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66666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rgbClr val="666666"/>
                </a:solidFill>
                <a:latin typeface="Work Sans"/>
                <a:ea typeface="Work Sans"/>
                <a:cs typeface="Work Sans"/>
                <a:sym typeface="Work Sans"/>
              </a:rPr>
              <a:t>Root split </a:t>
            </a:r>
            <a:r>
              <a:rPr b="1" lang="pt-BR" sz="1100">
                <a:solidFill>
                  <a:srgbClr val="666666"/>
                </a:solidFill>
                <a:latin typeface="Work Sans"/>
                <a:ea typeface="Work Sans"/>
                <a:cs typeface="Work Sans"/>
                <a:sym typeface="Work Sans"/>
              </a:rPr>
              <a:t>(directors_cluster)</a:t>
            </a:r>
            <a:r>
              <a:rPr lang="pt-BR" sz="1100">
                <a:solidFill>
                  <a:srgbClr val="666666"/>
                </a:solidFill>
                <a:latin typeface="Work Sans"/>
                <a:ea typeface="Work Sans"/>
                <a:cs typeface="Work Sans"/>
                <a:sym typeface="Work Sans"/>
              </a:rPr>
              <a:t> confirms clustering features are the strongest early predictors</a:t>
            </a:r>
            <a:endParaRPr sz="1100">
              <a:solidFill>
                <a:srgbClr val="666666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66666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Work Sans"/>
              <a:buChar char="●"/>
            </a:pPr>
            <a:r>
              <a:rPr b="1" lang="pt-BR" sz="1100">
                <a:solidFill>
                  <a:srgbClr val="666666"/>
                </a:solidFill>
                <a:latin typeface="Work Sans"/>
                <a:ea typeface="Work Sans"/>
                <a:cs typeface="Work Sans"/>
                <a:sym typeface="Work Sans"/>
              </a:rPr>
              <a:t>authors_cluster, actors_cluster,</a:t>
            </a:r>
            <a:r>
              <a:rPr lang="pt-BR" sz="1100">
                <a:solidFill>
                  <a:srgbClr val="666666"/>
                </a:solidFill>
                <a:latin typeface="Work Sans"/>
                <a:ea typeface="Work Sans"/>
                <a:cs typeface="Work Sans"/>
                <a:sym typeface="Work Sans"/>
              </a:rPr>
              <a:t> and </a:t>
            </a:r>
            <a:r>
              <a:rPr b="1" lang="pt-BR" sz="1100">
                <a:solidFill>
                  <a:srgbClr val="666666"/>
                </a:solidFill>
                <a:latin typeface="Work Sans"/>
                <a:ea typeface="Work Sans"/>
                <a:cs typeface="Work Sans"/>
                <a:sym typeface="Work Sans"/>
              </a:rPr>
              <a:t>content_group</a:t>
            </a:r>
            <a:r>
              <a:rPr lang="pt-BR" sz="1100">
                <a:solidFill>
                  <a:srgbClr val="666666"/>
                </a:solidFill>
                <a:latin typeface="Work Sans"/>
                <a:ea typeface="Work Sans"/>
                <a:cs typeface="Work Sans"/>
                <a:sym typeface="Work Sans"/>
              </a:rPr>
              <a:t> follow as key splits — reinforcing the feature engineering choices</a:t>
            </a:r>
            <a:endParaRPr sz="1100">
              <a:solidFill>
                <a:srgbClr val="666666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66666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Work Sans"/>
              <a:buChar char="●"/>
            </a:pPr>
            <a:r>
              <a:rPr b="1" lang="pt-BR" sz="1100">
                <a:solidFill>
                  <a:srgbClr val="666666"/>
                </a:solidFill>
                <a:latin typeface="Work Sans"/>
                <a:ea typeface="Work Sans"/>
                <a:cs typeface="Work Sans"/>
                <a:sym typeface="Work Sans"/>
              </a:rPr>
              <a:t>Genre</a:t>
            </a:r>
            <a:r>
              <a:rPr lang="pt-BR" sz="1100">
                <a:solidFill>
                  <a:srgbClr val="666666"/>
                </a:solidFill>
                <a:latin typeface="Work Sans"/>
                <a:ea typeface="Work Sans"/>
                <a:cs typeface="Work Sans"/>
                <a:sym typeface="Work Sans"/>
              </a:rPr>
              <a:t> and </a:t>
            </a:r>
            <a:r>
              <a:rPr b="1" lang="pt-BR" sz="1100">
                <a:solidFill>
                  <a:srgbClr val="666666"/>
                </a:solidFill>
                <a:latin typeface="Work Sans"/>
                <a:ea typeface="Work Sans"/>
                <a:cs typeface="Work Sans"/>
                <a:sym typeface="Work Sans"/>
              </a:rPr>
              <a:t>runtime</a:t>
            </a:r>
            <a:r>
              <a:rPr lang="pt-BR" sz="1100">
                <a:solidFill>
                  <a:srgbClr val="666666"/>
                </a:solidFill>
                <a:latin typeface="Work Sans"/>
                <a:ea typeface="Work Sans"/>
                <a:cs typeface="Work Sans"/>
                <a:sym typeface="Work Sans"/>
              </a:rPr>
              <a:t> refine predictions within subgroups, but carry less weight than the clustering features.</a:t>
            </a:r>
            <a:endParaRPr sz="1100">
              <a:solidFill>
                <a:srgbClr val="666666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66666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66666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66666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03" name="Google Shape;10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3525" y="3292072"/>
            <a:ext cx="4572000" cy="13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/>
        </p:nvSpPr>
        <p:spPr>
          <a:xfrm>
            <a:off x="478170" y="478199"/>
            <a:ext cx="623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25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pt-BR" spc="-30" sz="2600">
                <a:solidFill>
                  <a:srgbClr val="CC0000"/>
                </a:solidFill>
                <a:highlight>
                  <a:schemeClr val="lt1"/>
                </a:highlight>
                <a:latin typeface="Bebas Neue"/>
                <a:ea typeface="Bebas Neue"/>
                <a:cs typeface="Bebas Neue"/>
                <a:sym typeface="Bebas Neue"/>
              </a:rPr>
              <a:t>model building and evaluation</a:t>
            </a:r>
            <a:endParaRPr sz="2600">
              <a:solidFill>
                <a:srgbClr val="CC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683825" y="1957100"/>
            <a:ext cx="2525100" cy="2813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 txBox="1"/>
          <p:nvPr/>
        </p:nvSpPr>
        <p:spPr>
          <a:xfrm>
            <a:off x="909149" y="1820725"/>
            <a:ext cx="2063400" cy="28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Random Forest Classifier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Strong performance on training data (</a:t>
            </a:r>
            <a:r>
              <a:rPr b="1" lang="pt-BR" sz="1100">
                <a:solidFill>
                  <a:schemeClr val="dk1"/>
                </a:solidFill>
              </a:rPr>
              <a:t>83.75%</a:t>
            </a:r>
            <a:r>
              <a:rPr lang="pt-BR" sz="1100">
                <a:solidFill>
                  <a:schemeClr val="dk1"/>
                </a:solidFill>
              </a:rPr>
              <a:t>) but significant drop on test (</a:t>
            </a:r>
            <a:r>
              <a:rPr b="1" lang="pt-BR" sz="1100">
                <a:solidFill>
                  <a:schemeClr val="dk1"/>
                </a:solidFill>
              </a:rPr>
              <a:t>73.65%</a:t>
            </a:r>
            <a:r>
              <a:rPr lang="pt-BR" sz="1100">
                <a:solidFill>
                  <a:schemeClr val="dk1"/>
                </a:solidFill>
              </a:rPr>
              <a:t>) → clear overfitting.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Useful as a baseline ensemble model, but not ideal for generalization</a:t>
            </a:r>
            <a:r>
              <a:rPr lang="pt-BR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3404225" y="1957100"/>
            <a:ext cx="2525100" cy="2813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/>
        </p:nvSpPr>
        <p:spPr>
          <a:xfrm>
            <a:off x="642800" y="1063200"/>
            <a:ext cx="8081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We tested three models — Random Forest, XGBoost, and a manually tuned XGBoost — to compare their performance and identify the most effective approach. Each model delivered different results, helping us understand which one generalized best.  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3758365" y="2123300"/>
            <a:ext cx="1896000" cy="24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XGBoost – Original Configuration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Good initial accuracy (</a:t>
            </a:r>
            <a:r>
              <a:rPr b="1" lang="pt-BR" sz="1100">
                <a:solidFill>
                  <a:schemeClr val="dk1"/>
                </a:solidFill>
              </a:rPr>
              <a:t>~72–73%</a:t>
            </a:r>
            <a:r>
              <a:rPr lang="pt-BR" sz="1100">
                <a:solidFill>
                  <a:schemeClr val="dk1"/>
                </a:solidFill>
              </a:rPr>
              <a:t>) but noticeable overfitting (train ≈ 80%).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Served as a foundation to understand how boosting behaves with the dataset.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6203825" y="1957100"/>
            <a:ext cx="2525100" cy="2813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6498799" y="2187025"/>
            <a:ext cx="2063400" cy="21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XGBoost – Manually Tuning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Delivery higher test accuracy (</a:t>
            </a:r>
            <a:r>
              <a:rPr b="1" lang="pt-BR" sz="1100">
                <a:solidFill>
                  <a:schemeClr val="dk1"/>
                </a:solidFill>
              </a:rPr>
              <a:t>74.37%</a:t>
            </a:r>
            <a:r>
              <a:rPr lang="pt-BR" sz="1100">
                <a:solidFill>
                  <a:schemeClr val="dk1"/>
                </a:solidFill>
              </a:rPr>
              <a:t>), balanced precision/recall, and minimal overfitting, making it the most reliable model for predicting Fresh vs Rotten.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/>
        </p:nvSpPr>
        <p:spPr>
          <a:xfrm>
            <a:off x="478170" y="478199"/>
            <a:ext cx="623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25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pt-BR" spc="-30" sz="2600">
                <a:solidFill>
                  <a:srgbClr val="CC0000"/>
                </a:solidFill>
                <a:highlight>
                  <a:schemeClr val="lt1"/>
                </a:highlight>
                <a:latin typeface="Bebas Neue"/>
                <a:ea typeface="Bebas Neue"/>
                <a:cs typeface="Bebas Neue"/>
                <a:sym typeface="Bebas Neue"/>
              </a:rPr>
              <a:t>model building and evaluation</a:t>
            </a:r>
            <a:endParaRPr sz="2600">
              <a:solidFill>
                <a:srgbClr val="CC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1063650" y="1418125"/>
            <a:ext cx="70167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Work Sans"/>
                <a:ea typeface="Work Sans"/>
                <a:cs typeface="Work Sans"/>
                <a:sym typeface="Work Sans"/>
              </a:rPr>
              <a:t>The manually tuned XGBoost model was selected as the final model after refining its hyperparameters using insights from Random Search and additional manual experimentation. </a:t>
            </a:r>
            <a:endParaRPr sz="11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Work Sans"/>
                <a:ea typeface="Work Sans"/>
                <a:cs typeface="Work Sans"/>
                <a:sym typeface="Work Sans"/>
              </a:rPr>
              <a:t>Key adjustments included:</a:t>
            </a:r>
            <a:endParaRPr sz="1100"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Work Sans"/>
              <a:buChar char="●"/>
            </a:pPr>
            <a:r>
              <a:rPr lang="pt-BR" sz="1100">
                <a:latin typeface="Work Sans"/>
                <a:ea typeface="Work Sans"/>
                <a:cs typeface="Work Sans"/>
                <a:sym typeface="Work Sans"/>
              </a:rPr>
              <a:t>max_depth = 3 → best generalization </a:t>
            </a:r>
            <a:endParaRPr sz="1100"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Work Sans"/>
              <a:buChar char="●"/>
            </a:pPr>
            <a:r>
              <a:rPr lang="pt-BR" sz="1100">
                <a:latin typeface="Work Sans"/>
                <a:ea typeface="Work Sans"/>
                <a:cs typeface="Work Sans"/>
                <a:sym typeface="Work Sans"/>
              </a:rPr>
              <a:t>learning_rate = 0.1 and n_estimators = 300 → stable learning </a:t>
            </a:r>
            <a:endParaRPr sz="1100"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Work Sans"/>
              <a:buChar char="●"/>
            </a:pPr>
            <a:r>
              <a:rPr lang="pt-BR" sz="1100">
                <a:latin typeface="Work Sans"/>
                <a:ea typeface="Work Sans"/>
                <a:cs typeface="Work Sans"/>
                <a:sym typeface="Work Sans"/>
              </a:rPr>
              <a:t>subsample = 0.8 and colsample_bytree = 0.8 → reduced variance </a:t>
            </a:r>
            <a:endParaRPr sz="1100"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Work Sans"/>
              <a:buChar char="●"/>
            </a:pPr>
            <a:r>
              <a:rPr lang="pt-BR" sz="1100">
                <a:latin typeface="Work Sans"/>
                <a:ea typeface="Work Sans"/>
                <a:cs typeface="Work Sans"/>
                <a:sym typeface="Work Sans"/>
              </a:rPr>
              <a:t>Regularization (reg_alpha, reg_lambda) → controlled complexity </a:t>
            </a:r>
            <a:endParaRPr sz="11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Work Sans"/>
                <a:ea typeface="Work Sans"/>
                <a:cs typeface="Work Sans"/>
                <a:sym typeface="Work Sans"/>
              </a:rPr>
              <a:t>Achieved the best overall performance: </a:t>
            </a:r>
            <a:endParaRPr sz="11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Work Sans"/>
              <a:buChar char="●"/>
            </a:pPr>
            <a:r>
              <a:rPr lang="pt-BR" sz="1100">
                <a:latin typeface="Work Sans"/>
                <a:ea typeface="Work Sans"/>
                <a:cs typeface="Work Sans"/>
                <a:sym typeface="Work Sans"/>
              </a:rPr>
              <a:t>Test Accuracy: 0.7437 </a:t>
            </a:r>
            <a:endParaRPr sz="1100"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Work Sans"/>
              <a:buChar char="●"/>
            </a:pPr>
            <a:r>
              <a:rPr lang="pt-BR" sz="1100">
                <a:latin typeface="Work Sans"/>
                <a:ea typeface="Work Sans"/>
                <a:cs typeface="Work Sans"/>
                <a:sym typeface="Work Sans"/>
              </a:rPr>
              <a:t>Balanced precision, recall, and F1 across both classes </a:t>
            </a:r>
            <a:endParaRPr sz="1100"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Work Sans"/>
              <a:buChar char="●"/>
            </a:pPr>
            <a:r>
              <a:rPr lang="pt-BR" sz="1100">
                <a:latin typeface="Work Sans"/>
                <a:ea typeface="Work Sans"/>
                <a:cs typeface="Work Sans"/>
                <a:sym typeface="Work Sans"/>
              </a:rPr>
              <a:t>Minimal gap between train and test → no overfitting </a:t>
            </a:r>
            <a:endParaRPr sz="1100"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/>
        </p:nvSpPr>
        <p:spPr>
          <a:xfrm>
            <a:off x="478170" y="478199"/>
            <a:ext cx="623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25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pt-BR" spc="-30" sz="2600">
                <a:solidFill>
                  <a:srgbClr val="CC0000"/>
                </a:solidFill>
                <a:highlight>
                  <a:schemeClr val="lt1"/>
                </a:highlight>
                <a:latin typeface="Bebas Neue"/>
                <a:ea typeface="Bebas Neue"/>
                <a:cs typeface="Bebas Neue"/>
                <a:sym typeface="Bebas Neue"/>
              </a:rPr>
              <a:t>KEY FINDINGS AND INSIGHTS</a:t>
            </a:r>
            <a:endParaRPr sz="2600">
              <a:solidFill>
                <a:srgbClr val="CC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1202975" y="1936300"/>
            <a:ext cx="5866500" cy="3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The Manually Tuned XGBoost model achieved the best balance between accuracy, stability, and generalization, outperforming all other tested models.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</a:pPr>
            <a:r>
              <a:t/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Careful hyperparameter tuning — combining automated search with manual refinement — was essential to reach optimal performance.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The final model demonstrates that structured metadata (genres, clusters, release info) can effectively predict movie ratings.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It’s a primary model to </a:t>
            </a: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understand</a:t>
            </a: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 the behauviour, later can be improved </a:t>
            </a: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regression</a:t>
            </a: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 model, but probably need more info.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</a:pPr>
            <a:r>
              <a:t/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/>
        </p:nvSpPr>
        <p:spPr>
          <a:xfrm>
            <a:off x="1289700" y="1437550"/>
            <a:ext cx="60834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The model can help streaming platforms and studios predict audience reception before release, supporting smarter content acquisition and marketing decisions.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It provides data‑driven insights that reduce financial risk and improve recommendation quality.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Ethical considerations include potential bias reinforcement, limited understanding of creative factors, and the need for continuous updates as audience preferences evolve.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</a:pPr>
            <a:r>
              <a:t/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previsiones para clasificar las peliculas antes de su estreia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478170" y="478199"/>
            <a:ext cx="623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25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pt-BR" spc="-30" sz="2600">
                <a:solidFill>
                  <a:srgbClr val="CC0000"/>
                </a:solidFill>
                <a:highlight>
                  <a:schemeClr val="lt1"/>
                </a:highlight>
                <a:latin typeface="Bebas Neue"/>
                <a:ea typeface="Bebas Neue"/>
                <a:cs typeface="Bebas Neue"/>
                <a:sym typeface="Bebas Neue"/>
              </a:rPr>
              <a:t>REAL-WORLD APPLICATION &amp; IMPACT</a:t>
            </a:r>
            <a:endParaRPr sz="2600">
              <a:solidFill>
                <a:srgbClr val="CC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/>
        </p:nvSpPr>
        <p:spPr>
          <a:xfrm>
            <a:off x="1198800" y="1268550"/>
            <a:ext cx="67464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Normalized the DataFrame for ensemble methods, ensuring consistent scaling for algorithms sensitive to feature magnitude.</a:t>
            </a:r>
            <a:endParaRPr sz="1100"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Managed high‑dimensional dummy variables while maintaining model interpretability and avoiding sparse‑feature issues.</a:t>
            </a:r>
            <a:endParaRPr sz="1100"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Addressed feature mismatch errors during prediction by enforcing strict column alignment between train and test sets.</a:t>
            </a:r>
            <a:endParaRPr sz="1100"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Balanced preprocessing steps to avoid data leakage and ensure robust generalization.</a:t>
            </a:r>
            <a:endParaRPr sz="1100"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Handled overfitting across multiple models, learning how hyperparameters (max_depth, subsample, regularization) impact generalization. </a:t>
            </a:r>
            <a:endParaRPr sz="1100"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Char char="●"/>
            </a:pPr>
            <a:r>
              <a:rPr lang="pt-BR" sz="1100">
                <a:solidFill>
                  <a:srgbClr val="595959"/>
                </a:solidFill>
                <a:latin typeface="Work Sans"/>
                <a:ea typeface="Work Sans"/>
                <a:cs typeface="Work Sans"/>
                <a:sym typeface="Work Sans"/>
              </a:rPr>
              <a:t>Faced instability during Random Search, discovering that automated tuning can produce noisy or overfitted configurations. </a:t>
            </a:r>
            <a:endParaRPr sz="1100"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478170" y="478199"/>
            <a:ext cx="623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25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pt-BR" spc="-30" sz="2600">
                <a:solidFill>
                  <a:srgbClr val="CC0000"/>
                </a:solidFill>
                <a:highlight>
                  <a:schemeClr val="lt1"/>
                </a:highlight>
                <a:latin typeface="Bebas Neue"/>
                <a:ea typeface="Bebas Neue"/>
                <a:cs typeface="Bebas Neue"/>
                <a:sym typeface="Bebas Neue"/>
              </a:rPr>
              <a:t>CHALLENGES</a:t>
            </a:r>
            <a:r>
              <a:rPr lang="pt-BR" spc="-30" sz="2600">
                <a:solidFill>
                  <a:srgbClr val="CC0000"/>
                </a:solidFill>
                <a:highlight>
                  <a:schemeClr val="lt1"/>
                </a:highlight>
                <a:latin typeface="Bebas Neue"/>
                <a:ea typeface="Bebas Neue"/>
                <a:cs typeface="Bebas Neue"/>
                <a:sym typeface="Bebas Neue"/>
              </a:rPr>
              <a:t> &amp; LEARNINGS</a:t>
            </a:r>
            <a:endParaRPr sz="2600">
              <a:solidFill>
                <a:srgbClr val="CC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3775" y="-89100"/>
            <a:ext cx="9207774" cy="530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1072350" y="1426365"/>
            <a:ext cx="6999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thank </a:t>
            </a:r>
            <a:r>
              <a:rPr b="1" lang="pt-BR" sz="7200">
                <a:solidFill>
                  <a:srgbClr val="F83206"/>
                </a:solidFill>
                <a:latin typeface="Bebas Neue"/>
                <a:ea typeface="Bebas Neue"/>
                <a:cs typeface="Bebas Neue"/>
                <a:sym typeface="Bebas Neue"/>
              </a:rPr>
              <a:t>you!</a:t>
            </a:r>
            <a:endParaRPr b="1" sz="7200">
              <a:solidFill>
                <a:srgbClr val="F83206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1608900" y="3803566"/>
            <a:ext cx="59262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B7B7B7"/>
                </a:solidFill>
                <a:latin typeface="Work Sans"/>
                <a:ea typeface="Work Sans"/>
                <a:cs typeface="Work Sans"/>
                <a:sym typeface="Work Sans"/>
              </a:rPr>
              <a:t>Ana Claudia Russo &amp; Jeronimo Cagliero</a:t>
            </a:r>
            <a:endParaRPr sz="1000">
              <a:solidFill>
                <a:srgbClr val="B7B7B7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000">
                <a:solidFill>
                  <a:srgbClr val="B7B7B7"/>
                </a:solidFill>
                <a:latin typeface="Work Sans"/>
                <a:ea typeface="Work Sans"/>
                <a:cs typeface="Work Sans"/>
                <a:sym typeface="Work Sans"/>
              </a:rPr>
              <a:t>Ironhack, Data Analytics Bootcamp - Sep, 2026</a:t>
            </a:r>
            <a:endParaRPr i="1" sz="1000">
              <a:solidFill>
                <a:srgbClr val="B7B7B7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1453350" y="2759800"/>
            <a:ext cx="623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D9D9D9"/>
                </a:solidFill>
                <a:latin typeface="Work Sans"/>
                <a:ea typeface="Work Sans"/>
                <a:cs typeface="Work Sans"/>
                <a:sym typeface="Work Sans"/>
              </a:rPr>
              <a:t>Rotten Tomatoes: A Machine Learning Model for </a:t>
            </a:r>
            <a:endParaRPr sz="1500">
              <a:solidFill>
                <a:srgbClr val="D9D9D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D9D9D9"/>
                </a:solidFill>
                <a:latin typeface="Work Sans"/>
                <a:ea typeface="Work Sans"/>
                <a:cs typeface="Work Sans"/>
                <a:sym typeface="Work Sans"/>
              </a:rPr>
              <a:t>Fresh vs Rotten Classification </a:t>
            </a:r>
            <a:endParaRPr sz="1500">
              <a:solidFill>
                <a:srgbClr val="D9D9D9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